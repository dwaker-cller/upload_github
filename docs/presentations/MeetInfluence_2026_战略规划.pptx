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957263"/>
            <a:ext cx="5000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145" b="1" spc="2" kern="0" dirty="0">
                <a:solidFill>
                  <a:srgbClr val="FFFFFF"/>
                </a:solidFill>
              </a:rPr>
              <a:t>MeetInfluence</a:t>
            </a:r>
            <a:pPr algn="l" indent="0" marL="0">
              <a:lnSpc>
                <a:spcPts val="5600"/>
              </a:lnSpc>
              <a:buNone/>
            </a:pPr>
            <a:r>
              <a:rPr lang="en-US" sz="4145" b="1" spc="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5600"/>
              </a:lnSpc>
              <a:buNone/>
            </a:pPr>
            <a:r>
              <a:rPr lang="en-US" sz="4145" b="1" spc="2" kern="0" dirty="0">
                <a:solidFill>
                  <a:srgbClr val="FFFFFF"/>
                </a:solidFill>
              </a:rPr>
              <a:t>2026</a:t>
            </a:r>
            <a:endParaRPr lang="en-US" sz="4145" dirty="0"/>
          </a:p>
        </p:txBody>
      </p:sp>
      <p:sp>
        <p:nvSpPr>
          <p:cNvPr id="5" name="Text 1"/>
          <p:cNvSpPr/>
          <p:nvPr/>
        </p:nvSpPr>
        <p:spPr>
          <a:xfrm>
            <a:off x="571500" y="2843213"/>
            <a:ext cx="5000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spc="2" kern="0" dirty="0">
                <a:solidFill>
                  <a:srgbClr val="FFFFFF"/>
                </a:solidFill>
              </a:rPr>
              <a:t>游戏达人营销平台</a:t>
            </a:r>
            <a:pPr algn="l" indent="0" marL="0">
              <a:lnSpc>
                <a:spcPts val="3400"/>
              </a:lnSpc>
              <a:buNone/>
            </a:pPr>
            <a:r>
              <a:rPr lang="en-US" sz="2016" b="1" spc="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400"/>
              </a:lnSpc>
              <a:buNone/>
            </a:pPr>
            <a:r>
              <a:rPr lang="en-US" sz="2016" b="1" spc="2" kern="0" dirty="0">
                <a:solidFill>
                  <a:srgbClr val="FFFFFF"/>
                </a:solidFill>
              </a:rPr>
              <a:t>战略规划</a:t>
            </a:r>
            <a:endParaRPr lang="en-US" sz="2016" dirty="0"/>
          </a:p>
        </p:txBody>
      </p:sp>
      <p:sp>
        <p:nvSpPr>
          <p:cNvPr id="6" name="Text 2"/>
          <p:cNvSpPr/>
          <p:nvPr/>
        </p:nvSpPr>
        <p:spPr>
          <a:xfrm>
            <a:off x="571500" y="3929063"/>
            <a:ext cx="5000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spc="2" kern="0" dirty="0">
                <a:solidFill>
                  <a:srgbClr val="E5E7EB">
                    <a:alpha val="90000"/>
                  </a:srgbClr>
                </a:solidFill>
              </a:rPr>
              <a:t>2026年1月29日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882740"/>
            <a:ext cx="2000250" cy="9750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98249" y="4693444"/>
            <a:ext cx="16600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34" spc="3" kern="0" dirty="0">
                <a:solidFill>
                  <a:srgbClr val="FFFFFF"/>
                </a:solidFill>
              </a:rPr>
              <a:t>www.meetgames.com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428625"/>
            <a:ext cx="7772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行业背景与产品定位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800100" y="785813"/>
            <a:ext cx="77724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B7280"/>
                </a:solidFill>
              </a:rPr>
              <a:t>从买量时代迈向内容驱动的营销新纪元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228725"/>
            <a:ext cx="8001000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</a:rPr>
              <a:t>2026年全球游戏营销正经历深刻转型，传统买量模式效率持续下降，</a:t>
            </a:r>
            <a:pPr algn="just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4C00BD"/>
                </a:solidFill>
              </a:rPr>
              <a:t>内容驱动的达人营销</a:t>
            </a:r>
            <a:pPr algn="just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</a:rPr>
              <a:t>成为出海游戏获客的核心</a:t>
            </a:r>
            <a:pPr algn="just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374151"/>
                </a:solidFill>
              </a:rPr>
              <a:t>战场。MeetInfluence 定位为游戏行业垂直类达人营销 SaaS 平台，致力于解决行业三大顽疾。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71500" y="2025253"/>
            <a:ext cx="342900" cy="3429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2" y="2096691"/>
            <a:ext cx="125016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700" y="206811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数据孤岛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2553891"/>
            <a:ext cx="25146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达人数据分散，复用率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C2626"/>
                </a:solidFill>
              </a:rPr>
              <a:t>&lt;10%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 缺乏统一标准与价值评估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314700" y="2025253"/>
            <a:ext cx="342900" cy="3429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53" y="2096691"/>
            <a:ext cx="178594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206811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流程割裂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314700" y="2553891"/>
            <a:ext cx="25146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人工搜索筛选效率低下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 单人日处理仅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C2626"/>
                </a:solidFill>
              </a:rPr>
              <a:t>20-50人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6057900" y="2025253"/>
            <a:ext cx="342900" cy="3429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983" y="2096691"/>
            <a:ext cx="160734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15100" y="2068116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中介溢价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6057900" y="2553891"/>
            <a:ext cx="25146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MCN与代理层层加价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C2626"/>
                </a:solidFill>
              </a:rPr>
              <a:t>20%-40%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 溢价严重侵蚀利润,影响成交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571500" y="3664744"/>
            <a:ext cx="8001000" cy="90725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3"/>
          <p:cNvSpPr/>
          <p:nvPr/>
        </p:nvSpPr>
        <p:spPr>
          <a:xfrm>
            <a:off x="571500" y="3664744"/>
            <a:ext cx="57150" cy="90725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4"/>
          <p:cNvSpPr/>
          <p:nvPr/>
        </p:nvSpPr>
        <p:spPr>
          <a:xfrm>
            <a:off x="742950" y="3836194"/>
            <a:ext cx="39031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MeetInfluence 核心定义</a:t>
            </a:r>
            <a:endParaRPr lang="en-US" sz="1397" dirty="0"/>
          </a:p>
        </p:txBody>
      </p:sp>
      <p:sp>
        <p:nvSpPr>
          <p:cNvPr id="21" name="Text 15"/>
          <p:cNvSpPr/>
          <p:nvPr/>
        </p:nvSpPr>
        <p:spPr>
          <a:xfrm>
            <a:off x="742950" y="4164806"/>
            <a:ext cx="39031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不仅仅是 CRM，更是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BBF24"/>
                </a:solidFill>
              </a:rPr>
              <a:t>达人建联自动化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 与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BBF24"/>
                </a:solidFill>
              </a:rPr>
              <a:t>直连数据引擎</a:t>
            </a:r>
            <a:endParaRPr lang="en-US" sz="1159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7829550" y="3946922"/>
            <a:ext cx="342900" cy="3429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0" y="4714875"/>
            <a:ext cx="7772400" cy="428625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285750" y="4814888"/>
            <a:ext cx="468948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772400" y="4714875"/>
            <a:ext cx="1371600" cy="42862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6" name="Text 18"/>
          <p:cNvSpPr/>
          <p:nvPr/>
        </p:nvSpPr>
        <p:spPr>
          <a:xfrm>
            <a:off x="8173287" y="4857750"/>
            <a:ext cx="5697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spc="1" kern="0" dirty="0">
                <a:solidFill>
                  <a:srgbClr val="1A1A2E"/>
                </a:solidFill>
              </a:rPr>
              <a:t>STRATEGY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三大核心价值主张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构建“高匹配、合理价”的智能营销护城河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593056"/>
            <a:ext cx="2609841" cy="2514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593056"/>
            <a:ext cx="2609841" cy="28575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8" name="Text 4"/>
          <p:cNvSpPr/>
          <p:nvPr/>
        </p:nvSpPr>
        <p:spPr>
          <a:xfrm>
            <a:off x="600075" y="1764506"/>
            <a:ext cx="5230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B419">
                    <a:alpha val="20000"/>
                  </a:srgbClr>
                </a:solidFill>
              </a:rPr>
              <a:t>01</a:t>
            </a:r>
            <a:endParaRPr lang="en-US" sz="3294" dirty="0"/>
          </a:p>
        </p:txBody>
      </p:sp>
      <p:sp>
        <p:nvSpPr>
          <p:cNvPr id="9" name="Text 5"/>
          <p:cNvSpPr/>
          <p:nvPr/>
        </p:nvSpPr>
        <p:spPr>
          <a:xfrm>
            <a:off x="600075" y="1821656"/>
            <a:ext cx="22669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数据资产化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&amp; 价值分析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600075" y="2450306"/>
            <a:ext cx="22669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拒绝传统静态数据库</a:t>
            </a:r>
            <a:endParaRPr lang="en-US" sz="68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743200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100" y="2714625"/>
            <a:ext cx="206691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AI 深度分析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：挖掘真实数据依据，超越简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单存储。</a:t>
            </a:r>
            <a:endParaRPr lang="en-US" sz="7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178969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" y="3150394"/>
            <a:ext cx="206691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Game Fit Score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：基于历史表现与受众重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合度计算匹配分。</a:t>
            </a:r>
            <a:endParaRPr lang="en-US" sz="7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3614738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0100" y="3586163"/>
            <a:ext cx="206691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Fair Price Range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：基于交易数据推算合理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价格，拒绝盲目溢价。</a:t>
            </a:r>
            <a:endParaRPr lang="en-US" sz="734" dirty="0"/>
          </a:p>
        </p:txBody>
      </p:sp>
      <p:sp>
        <p:nvSpPr>
          <p:cNvPr id="17" name="Shape 10"/>
          <p:cNvSpPr/>
          <p:nvPr/>
        </p:nvSpPr>
        <p:spPr>
          <a:xfrm>
            <a:off x="3267066" y="1593056"/>
            <a:ext cx="2609841" cy="2514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1"/>
          <p:cNvSpPr/>
          <p:nvPr/>
        </p:nvSpPr>
        <p:spPr>
          <a:xfrm>
            <a:off x="3267066" y="1593056"/>
            <a:ext cx="2609841" cy="2857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19" name="Text 12"/>
          <p:cNvSpPr/>
          <p:nvPr/>
        </p:nvSpPr>
        <p:spPr>
          <a:xfrm>
            <a:off x="3438516" y="1764506"/>
            <a:ext cx="5230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4C00BD">
                    <a:alpha val="10000"/>
                  </a:srgbClr>
                </a:solidFill>
              </a:rPr>
              <a:t>02</a:t>
            </a:r>
            <a:endParaRPr lang="en-US" sz="3294" dirty="0"/>
          </a:p>
        </p:txBody>
      </p:sp>
      <p:sp>
        <p:nvSpPr>
          <p:cNvPr id="20" name="Text 13"/>
          <p:cNvSpPr/>
          <p:nvPr/>
        </p:nvSpPr>
        <p:spPr>
          <a:xfrm>
            <a:off x="3438516" y="1821656"/>
            <a:ext cx="22669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直连体系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护城河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3438516" y="2450306"/>
            <a:ext cx="22669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去中介化与透明度</a:t>
            </a:r>
            <a:endParaRPr lang="en-US" sz="683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516" y="2743200"/>
            <a:ext cx="142875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67116" y="2714625"/>
            <a:ext cx="20383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直接连接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：绕过 MCN 与代理，直连长尾达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人。</a:t>
            </a:r>
            <a:endParaRPr lang="en-US" sz="7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516" y="3178969"/>
            <a:ext cx="85725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09966" y="3150394"/>
            <a:ext cx="209549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消除溢价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：节省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20%-40%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 中介费用，掌握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真实市场价值。</a:t>
            </a:r>
            <a:endParaRPr lang="en-US" sz="734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16" y="3614738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38541" y="3586163"/>
            <a:ext cx="206691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私域沉淀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：将达人关系转化为企业私域资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产。</a:t>
            </a:r>
            <a:endParaRPr lang="en-US" sz="734" dirty="0"/>
          </a:p>
        </p:txBody>
      </p:sp>
      <p:sp>
        <p:nvSpPr>
          <p:cNvPr id="28" name="Shape 18"/>
          <p:cNvSpPr/>
          <p:nvPr/>
        </p:nvSpPr>
        <p:spPr>
          <a:xfrm>
            <a:off x="6105506" y="1593056"/>
            <a:ext cx="2609869" cy="24860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19"/>
          <p:cNvSpPr/>
          <p:nvPr/>
        </p:nvSpPr>
        <p:spPr>
          <a:xfrm>
            <a:off x="6105506" y="1593056"/>
            <a:ext cx="2609869" cy="28575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30" name="Text 20"/>
          <p:cNvSpPr/>
          <p:nvPr/>
        </p:nvSpPr>
        <p:spPr>
          <a:xfrm>
            <a:off x="6276956" y="1764506"/>
            <a:ext cx="5230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B419">
                    <a:alpha val="20000"/>
                  </a:srgbClr>
                </a:solidFill>
              </a:rPr>
              <a:t>03</a:t>
            </a:r>
            <a:endParaRPr lang="en-US" sz="3294" dirty="0"/>
          </a:p>
        </p:txBody>
      </p:sp>
      <p:sp>
        <p:nvSpPr>
          <p:cNvPr id="31" name="Text 21"/>
          <p:cNvSpPr/>
          <p:nvPr/>
        </p:nvSpPr>
        <p:spPr>
          <a:xfrm>
            <a:off x="6276956" y="1821656"/>
            <a:ext cx="2266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流程自动化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(RPA + AI)</a:t>
            </a:r>
            <a:endParaRPr lang="en-US" sz="1193" dirty="0"/>
          </a:p>
        </p:txBody>
      </p:sp>
      <p:sp>
        <p:nvSpPr>
          <p:cNvPr id="32" name="Text 22"/>
          <p:cNvSpPr/>
          <p:nvPr/>
        </p:nvSpPr>
        <p:spPr>
          <a:xfrm>
            <a:off x="6276956" y="2450306"/>
            <a:ext cx="2266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从手工作坊到流水线</a:t>
            </a:r>
            <a:endParaRPr lang="en-US" sz="683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6956" y="2743200"/>
            <a:ext cx="142875" cy="1143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05556" y="2714625"/>
            <a:ext cx="1965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AI Agent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：替代人工搜索、筛选与发信。</a:t>
            </a:r>
            <a:endParaRPr lang="en-US" sz="734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6956" y="3018234"/>
            <a:ext cx="114300" cy="1143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476981" y="2989659"/>
            <a:ext cx="206694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人效质变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：单人周处理能力从 50 提升至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500-2000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 人。</a:t>
            </a:r>
            <a:endParaRPr lang="en-US" sz="734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6956" y="3454003"/>
            <a:ext cx="114300" cy="11430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476981" y="3425428"/>
            <a:ext cx="206694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74151"/>
                </a:solidFill>
              </a:rPr>
              <a:t>自动跟进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：智能序列与防撞单机制，不遗漏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</a:rPr>
              <a:t>潜在机会。</a:t>
            </a:r>
            <a:endParaRPr lang="en-US" sz="734" dirty="0"/>
          </a:p>
        </p:txBody>
      </p:sp>
      <p:sp>
        <p:nvSpPr>
          <p:cNvPr id="39" name="Shape 26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2" name="Text 28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85725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528638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四大核心引擎 (1/2)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971550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智能数据引擎 &amp; 价值发现引擎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428625" y="1335881"/>
            <a:ext cx="4029075" cy="2736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335881"/>
            <a:ext cx="42863" cy="2736056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8" name="Shape 4"/>
          <p:cNvSpPr/>
          <p:nvPr/>
        </p:nvSpPr>
        <p:spPr>
          <a:xfrm>
            <a:off x="600075" y="1507331"/>
            <a:ext cx="285750" cy="28575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578769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50" y="1521619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智能数据引擎</a:t>
            </a:r>
            <a:endParaRPr lang="en-US" sz="1193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935956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1525" y="1914525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历史清洗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600075" y="2121694"/>
            <a:ext cx="3686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支持 CSV/Excel 批量导入与去重，解决历史数据孤岛问题。</a:t>
            </a:r>
            <a:endParaRPr lang="en-US" sz="72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2414588"/>
            <a:ext cx="128588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5813" y="2393156"/>
            <a:ext cx="12502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分层数据获取 (合规优先)</a:t>
            </a:r>
            <a:endParaRPr lang="en-US" sz="784" dirty="0"/>
          </a:p>
        </p:txBody>
      </p:sp>
      <p:sp>
        <p:nvSpPr>
          <p:cNvPr id="16" name="Shape 9"/>
          <p:cNvSpPr/>
          <p:nvPr/>
        </p:nvSpPr>
        <p:spPr>
          <a:xfrm>
            <a:off x="600075" y="2628900"/>
            <a:ext cx="216405" cy="157163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0"/>
          <p:cNvSpPr/>
          <p:nvPr/>
        </p:nvSpPr>
        <p:spPr>
          <a:xfrm>
            <a:off x="600075" y="2628900"/>
            <a:ext cx="216405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P0</a:t>
            </a:r>
            <a:endParaRPr lang="en-US" sz="584" dirty="0"/>
          </a:p>
        </p:txBody>
      </p:sp>
      <p:sp>
        <p:nvSpPr>
          <p:cNvPr id="18" name="Text 11"/>
          <p:cNvSpPr/>
          <p:nvPr/>
        </p:nvSpPr>
        <p:spPr>
          <a:xfrm>
            <a:off x="859343" y="2614613"/>
            <a:ext cx="26385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商业化 API: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 冷启动扩库 (TikTok/YouTube/INS)，保障核心字段供给。</a:t>
            </a:r>
            <a:endParaRPr lang="en-US" sz="584" dirty="0"/>
          </a:p>
        </p:txBody>
      </p:sp>
      <p:sp>
        <p:nvSpPr>
          <p:cNvPr id="19" name="Shape 12"/>
          <p:cNvSpPr/>
          <p:nvPr/>
        </p:nvSpPr>
        <p:spPr>
          <a:xfrm>
            <a:off x="600075" y="2886075"/>
            <a:ext cx="216405" cy="15716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3"/>
          <p:cNvSpPr/>
          <p:nvPr/>
        </p:nvSpPr>
        <p:spPr>
          <a:xfrm>
            <a:off x="600075" y="2886075"/>
            <a:ext cx="216405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P1</a:t>
            </a:r>
            <a:endParaRPr lang="en-US" sz="584" dirty="0"/>
          </a:p>
        </p:txBody>
      </p:sp>
      <p:sp>
        <p:nvSpPr>
          <p:cNvPr id="21" name="Text 14"/>
          <p:cNvSpPr/>
          <p:nvPr/>
        </p:nvSpPr>
        <p:spPr>
          <a:xfrm>
            <a:off x="859343" y="2871788"/>
            <a:ext cx="18441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官方 API: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 关键字段校验与补全，降低数据偏差。</a:t>
            </a:r>
            <a:endParaRPr lang="en-US" sz="584" dirty="0"/>
          </a:p>
        </p:txBody>
      </p:sp>
      <p:sp>
        <p:nvSpPr>
          <p:cNvPr id="22" name="Shape 15"/>
          <p:cNvSpPr/>
          <p:nvPr/>
        </p:nvSpPr>
        <p:spPr>
          <a:xfrm>
            <a:off x="600075" y="3143250"/>
            <a:ext cx="216405" cy="1571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6"/>
          <p:cNvSpPr/>
          <p:nvPr/>
        </p:nvSpPr>
        <p:spPr>
          <a:xfrm>
            <a:off x="600075" y="3143250"/>
            <a:ext cx="216405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P2</a:t>
            </a:r>
            <a:endParaRPr lang="en-US" sz="584" dirty="0"/>
          </a:p>
        </p:txBody>
      </p:sp>
      <p:sp>
        <p:nvSpPr>
          <p:cNvPr id="24" name="Text 17"/>
          <p:cNvSpPr/>
          <p:nvPr/>
        </p:nvSpPr>
        <p:spPr>
          <a:xfrm>
            <a:off x="859343" y="3128963"/>
            <a:ext cx="23932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B5563"/>
                </a:solidFill>
              </a:rPr>
              <a:t>公开信息: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 仅在法务评审后启用，用于长尾/沉睡达人按需更新。</a:t>
            </a:r>
            <a:endParaRPr lang="en-US" sz="584" dirty="0"/>
          </a:p>
        </p:txBody>
      </p:sp>
      <p:sp>
        <p:nvSpPr>
          <p:cNvPr id="25" name="Shape 18"/>
          <p:cNvSpPr/>
          <p:nvPr/>
        </p:nvSpPr>
        <p:spPr>
          <a:xfrm>
            <a:off x="600075" y="3471863"/>
            <a:ext cx="3686175" cy="428625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6" name="Text 19"/>
          <p:cNvSpPr/>
          <p:nvPr/>
        </p:nvSpPr>
        <p:spPr>
          <a:xfrm>
            <a:off x="685800" y="3557588"/>
            <a:ext cx="35147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4C00BD"/>
                </a:solidFill>
              </a:rPr>
              <a:t>分层更新策略</a:t>
            </a:r>
            <a:endParaRPr lang="en-US" sz="584" dirty="0"/>
          </a:p>
        </p:txBody>
      </p:sp>
      <p:sp>
        <p:nvSpPr>
          <p:cNvPr id="27" name="Text 20"/>
          <p:cNvSpPr/>
          <p:nvPr/>
        </p:nvSpPr>
        <p:spPr>
          <a:xfrm>
            <a:off x="685800" y="3700463"/>
            <a:ext cx="35147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活跃 Campaign 核心达人高频更新；长尾达人按需更新，控制成本。</a:t>
            </a:r>
            <a:endParaRPr lang="en-US" sz="621" dirty="0"/>
          </a:p>
        </p:txBody>
      </p:sp>
      <p:sp>
        <p:nvSpPr>
          <p:cNvPr id="28" name="Shape 21"/>
          <p:cNvSpPr/>
          <p:nvPr/>
        </p:nvSpPr>
        <p:spPr>
          <a:xfrm>
            <a:off x="4686300" y="1335881"/>
            <a:ext cx="4029075" cy="2736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2"/>
          <p:cNvSpPr/>
          <p:nvPr/>
        </p:nvSpPr>
        <p:spPr>
          <a:xfrm>
            <a:off x="4686300" y="1335881"/>
            <a:ext cx="42863" cy="2736056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0" name="Shape 23"/>
          <p:cNvSpPr/>
          <p:nvPr/>
        </p:nvSpPr>
        <p:spPr>
          <a:xfrm>
            <a:off x="4857750" y="1507331"/>
            <a:ext cx="285750" cy="28575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78769"/>
            <a:ext cx="142875" cy="1428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29225" y="1521619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D97706"/>
                </a:solidFill>
              </a:rPr>
              <a:t>游戏垂类达人库</a:t>
            </a:r>
            <a:endParaRPr lang="en-US" sz="1193" dirty="0"/>
          </a:p>
        </p:txBody>
      </p:sp>
      <p:sp>
        <p:nvSpPr>
          <p:cNvPr id="33" name="Text 25"/>
          <p:cNvSpPr/>
          <p:nvPr/>
        </p:nvSpPr>
        <p:spPr>
          <a:xfrm>
            <a:off x="6486525" y="1578769"/>
            <a:ext cx="6600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(价值发现引擎)</a:t>
            </a:r>
            <a:endParaRPr lang="en-US" sz="727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935956"/>
            <a:ext cx="114300" cy="1143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29200" y="1914525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不仅仅是搜索</a:t>
            </a:r>
            <a:endParaRPr lang="en-US" sz="784" dirty="0"/>
          </a:p>
        </p:txBody>
      </p:sp>
      <p:sp>
        <p:nvSpPr>
          <p:cNvPr id="36" name="Text 27"/>
          <p:cNvSpPr/>
          <p:nvPr/>
        </p:nvSpPr>
        <p:spPr>
          <a:xfrm>
            <a:off x="4857750" y="2121694"/>
            <a:ext cx="3686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基于 Elasticsearch 构建，超越传统关键词匹配。</a:t>
            </a:r>
            <a:endParaRPr lang="en-US" sz="727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414588"/>
            <a:ext cx="128588" cy="1143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43488" y="2393156"/>
            <a:ext cx="6102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AI 价值锚定</a:t>
            </a:r>
            <a:endParaRPr lang="en-US" sz="784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643188"/>
            <a:ext cx="85725" cy="1143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00625" y="2618184"/>
            <a:ext cx="13357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游戏匹配度 (Game Fit Score)</a:t>
            </a:r>
            <a:endParaRPr lang="en-US" sz="683" dirty="0"/>
          </a:p>
        </p:txBody>
      </p:sp>
      <p:sp>
        <p:nvSpPr>
          <p:cNvPr id="41" name="Text 30"/>
          <p:cNvSpPr/>
          <p:nvPr/>
        </p:nvSpPr>
        <p:spPr>
          <a:xfrm>
            <a:off x="5000625" y="2757488"/>
            <a:ext cx="23496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系统利用 NLP 分析达人内容风格，结合历史数据计算匹配分。</a:t>
            </a:r>
            <a:endParaRPr lang="en-US" sz="621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2986088"/>
            <a:ext cx="85725" cy="1143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00625" y="2961084"/>
            <a:ext cx="17034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价格竞争力 (Price Competitiveness)</a:t>
            </a:r>
            <a:endParaRPr lang="en-US" sz="683" dirty="0"/>
          </a:p>
        </p:txBody>
      </p:sp>
      <p:sp>
        <p:nvSpPr>
          <p:cNvPr id="44" name="Text 32"/>
          <p:cNvSpPr/>
          <p:nvPr/>
        </p:nvSpPr>
        <p:spPr>
          <a:xfrm>
            <a:off x="5000625" y="3100388"/>
            <a:ext cx="22046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基于清洗后的真实交易数据，标记达人的“合理价格区间”。</a:t>
            </a:r>
            <a:endParaRPr lang="en-US" sz="621" dirty="0"/>
          </a:p>
        </p:txBody>
      </p:sp>
      <p:sp>
        <p:nvSpPr>
          <p:cNvPr id="45" name="Shape 33"/>
          <p:cNvSpPr/>
          <p:nvPr/>
        </p:nvSpPr>
        <p:spPr>
          <a:xfrm>
            <a:off x="4857750" y="3429000"/>
            <a:ext cx="3686175" cy="471488"/>
          </a:xfrm>
          <a:prstGeom prst="rect">
            <a:avLst/>
          </a:prstGeom>
          <a:solidFill>
            <a:srgbClr val="FFFBEB"/>
          </a:solidFill>
          <a:ln w="9144">
            <a:solidFill>
              <a:srgbClr val="FDE68A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4943475" y="3529013"/>
            <a:ext cx="3514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97706"/>
                </a:solidFill>
              </a:rPr>
              <a:t>目标：确保搜出来的达人</a:t>
            </a:r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97706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B45309"/>
                </a:solidFill>
              </a:rPr>
              <a:t>不仅类型对，而且价格合理</a:t>
            </a:r>
            <a:endParaRPr lang="en-US" sz="683" dirty="0"/>
          </a:p>
        </p:txBody>
      </p:sp>
      <p:sp>
        <p:nvSpPr>
          <p:cNvPr id="47" name="Shape 35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50" name="Text 37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85725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528638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四大核心引擎 (2/2)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971550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智能建联与多模态内容引擎 &amp; 智能推荐系统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428625" y="1335881"/>
            <a:ext cx="4029075" cy="25574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335881"/>
            <a:ext cx="42863" cy="2557463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8" name="Shape 4"/>
          <p:cNvSpPr/>
          <p:nvPr/>
        </p:nvSpPr>
        <p:spPr>
          <a:xfrm>
            <a:off x="600075" y="1507331"/>
            <a:ext cx="285750" cy="28575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578769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50" y="1521619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智能建联与多模态内容</a:t>
            </a:r>
            <a:endParaRPr lang="en-US" sz="1193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935956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1525" y="1914525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高匹配智能筛选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600075" y="2121694"/>
            <a:ext cx="3686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基于 NLP 深度解析客户需求与达人历史创作/观众情绪，智能推荐名单。</a:t>
            </a:r>
            <a:endParaRPr lang="en-US" sz="72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2414588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1525" y="2393156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情感链接与富媒体交互</a:t>
            </a:r>
            <a:endParaRPr lang="en-US" sz="784" dirty="0"/>
          </a:p>
        </p:txBody>
      </p:sp>
      <p:sp>
        <p:nvSpPr>
          <p:cNvPr id="16" name="Text 9"/>
          <p:cNvSpPr/>
          <p:nvPr/>
        </p:nvSpPr>
        <p:spPr>
          <a:xfrm>
            <a:off x="600075" y="2600325"/>
            <a:ext cx="36861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AI 针对每位达人生成触动其“痛点”或“爽点”的邀约。支持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AI 定制海报/Rich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Media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，建立深度链接。</a:t>
            </a:r>
            <a:endParaRPr lang="en-US" sz="727" dirty="0"/>
          </a:p>
        </p:txBody>
      </p:sp>
      <p:sp>
        <p:nvSpPr>
          <p:cNvPr id="17" name="Shape 10"/>
          <p:cNvSpPr/>
          <p:nvPr/>
        </p:nvSpPr>
        <p:spPr>
          <a:xfrm>
            <a:off x="600075" y="3028950"/>
            <a:ext cx="1800225" cy="5286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85800" y="3128963"/>
            <a:ext cx="1628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500-2000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685800" y="3343275"/>
            <a:ext cx="16287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单人日均处理量 (10x)</a:t>
            </a:r>
            <a:endParaRPr lang="en-US" sz="621" dirty="0"/>
          </a:p>
        </p:txBody>
      </p:sp>
      <p:sp>
        <p:nvSpPr>
          <p:cNvPr id="20" name="Shape 13"/>
          <p:cNvSpPr/>
          <p:nvPr/>
        </p:nvSpPr>
        <p:spPr>
          <a:xfrm>
            <a:off x="2486025" y="3028950"/>
            <a:ext cx="1800225" cy="5286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571750" y="3128963"/>
            <a:ext cx="1628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15%+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2571750" y="3343275"/>
            <a:ext cx="16287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邮件有效回复率</a:t>
            </a:r>
            <a:endParaRPr lang="en-US" sz="621" dirty="0"/>
          </a:p>
        </p:txBody>
      </p:sp>
      <p:sp>
        <p:nvSpPr>
          <p:cNvPr id="23" name="Text 16"/>
          <p:cNvSpPr/>
          <p:nvPr/>
        </p:nvSpPr>
        <p:spPr>
          <a:xfrm>
            <a:off x="600075" y="3614738"/>
            <a:ext cx="36861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9CA3AF"/>
                </a:solidFill>
              </a:rPr>
              <a:t>*上限假设 45% (待验证)</a:t>
            </a:r>
            <a:endParaRPr lang="en-US" sz="516" dirty="0"/>
          </a:p>
        </p:txBody>
      </p:sp>
      <p:sp>
        <p:nvSpPr>
          <p:cNvPr id="24" name="Shape 17"/>
          <p:cNvSpPr/>
          <p:nvPr/>
        </p:nvSpPr>
        <p:spPr>
          <a:xfrm>
            <a:off x="4686300" y="1335881"/>
            <a:ext cx="4029075" cy="25574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18"/>
          <p:cNvSpPr/>
          <p:nvPr/>
        </p:nvSpPr>
        <p:spPr>
          <a:xfrm>
            <a:off x="4686300" y="1335881"/>
            <a:ext cx="42863" cy="25574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6" name="Shape 19"/>
          <p:cNvSpPr/>
          <p:nvPr/>
        </p:nvSpPr>
        <p:spPr>
          <a:xfrm>
            <a:off x="4857750" y="1507331"/>
            <a:ext cx="285750" cy="28575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78769"/>
            <a:ext cx="142875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29225" y="1521619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D97706"/>
                </a:solidFill>
              </a:rPr>
              <a:t>智能推荐系统</a:t>
            </a:r>
            <a:endParaRPr lang="en-US" sz="1193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935956"/>
            <a:ext cx="142875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57775" y="1914525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算法逻辑</a:t>
            </a:r>
            <a:endParaRPr lang="en-US" sz="784" dirty="0"/>
          </a:p>
        </p:txBody>
      </p:sp>
      <p:sp>
        <p:nvSpPr>
          <p:cNvPr id="31" name="Text 22"/>
          <p:cNvSpPr/>
          <p:nvPr/>
        </p:nvSpPr>
        <p:spPr>
          <a:xfrm>
            <a:off x="4857750" y="2121694"/>
            <a:ext cx="3686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不再单纯基于粉丝量推荐，而是基于双重权重排序：</a:t>
            </a:r>
            <a:endParaRPr lang="en-US" sz="727" dirty="0"/>
          </a:p>
        </p:txBody>
      </p:sp>
      <p:sp>
        <p:nvSpPr>
          <p:cNvPr id="32" name="Shape 23"/>
          <p:cNvSpPr/>
          <p:nvPr/>
        </p:nvSpPr>
        <p:spPr>
          <a:xfrm>
            <a:off x="4857750" y="2328863"/>
            <a:ext cx="3686175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914900" y="2400300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高匹配度</a:t>
            </a:r>
            <a:endParaRPr lang="en-US" sz="683" dirty="0"/>
          </a:p>
        </p:txBody>
      </p:sp>
      <p:sp>
        <p:nvSpPr>
          <p:cNvPr id="34" name="Text 25"/>
          <p:cNvSpPr/>
          <p:nvPr/>
        </p:nvSpPr>
        <p:spPr>
          <a:xfrm>
            <a:off x="5372100" y="2386013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+</a:t>
            </a:r>
            <a:endParaRPr lang="en-US" sz="834" dirty="0"/>
          </a:p>
        </p:txBody>
      </p:sp>
      <p:sp>
        <p:nvSpPr>
          <p:cNvPr id="35" name="Text 26"/>
          <p:cNvSpPr/>
          <p:nvPr/>
        </p:nvSpPr>
        <p:spPr>
          <a:xfrm>
            <a:off x="5494632" y="2400300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97706"/>
                </a:solidFill>
              </a:rPr>
              <a:t>合理报价</a:t>
            </a:r>
            <a:endParaRPr lang="en-US" sz="683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757488"/>
            <a:ext cx="128588" cy="1143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043488" y="273605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智能过滤</a:t>
            </a:r>
            <a:endParaRPr lang="en-US" sz="784" dirty="0"/>
          </a:p>
        </p:txBody>
      </p:sp>
      <p:sp>
        <p:nvSpPr>
          <p:cNvPr id="38" name="Text 28"/>
          <p:cNvSpPr/>
          <p:nvPr/>
        </p:nvSpPr>
        <p:spPr>
          <a:xfrm>
            <a:off x="4857750" y="2943225"/>
            <a:ext cx="3686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AI 自动过滤报价虚高或粉丝造假的账号，优先推荐性价比最高的直连达人。</a:t>
            </a:r>
            <a:endParaRPr lang="en-US" sz="727" dirty="0"/>
          </a:p>
        </p:txBody>
      </p:sp>
      <p:sp>
        <p:nvSpPr>
          <p:cNvPr id="39" name="Shape 29"/>
          <p:cNvSpPr/>
          <p:nvPr/>
        </p:nvSpPr>
        <p:spPr>
          <a:xfrm>
            <a:off x="4857750" y="3207544"/>
            <a:ext cx="3686175" cy="500063"/>
          </a:xfrm>
          <a:prstGeom prst="rect">
            <a:avLst/>
          </a:prstGeom>
          <a:solidFill>
            <a:srgbClr val="FFFBEB"/>
          </a:solidFill>
          <a:ln w="9144">
            <a:solidFill>
              <a:srgbClr val="FDE68A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972050" y="3321844"/>
            <a:ext cx="6643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B45309"/>
                </a:solidFill>
              </a:rPr>
              <a:t>Target Metric</a:t>
            </a:r>
            <a:endParaRPr lang="en-US" sz="584" dirty="0"/>
          </a:p>
        </p:txBody>
      </p:sp>
      <p:sp>
        <p:nvSpPr>
          <p:cNvPr id="41" name="Text 31"/>
          <p:cNvSpPr/>
          <p:nvPr/>
        </p:nvSpPr>
        <p:spPr>
          <a:xfrm>
            <a:off x="4972050" y="343971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97706"/>
                </a:solidFill>
              </a:rPr>
              <a:t>推荐采纳率</a:t>
            </a:r>
            <a:endParaRPr lang="en-US" sz="727" dirty="0"/>
          </a:p>
        </p:txBody>
      </p:sp>
      <p:sp>
        <p:nvSpPr>
          <p:cNvPr id="42" name="Text 32"/>
          <p:cNvSpPr/>
          <p:nvPr/>
        </p:nvSpPr>
        <p:spPr>
          <a:xfrm>
            <a:off x="7862981" y="3336131"/>
            <a:ext cx="5666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97706"/>
                </a:solidFill>
              </a:rPr>
              <a:t>≥ 30%</a:t>
            </a:r>
            <a:endParaRPr lang="en-US" sz="1193" dirty="0"/>
          </a:p>
        </p:txBody>
      </p:sp>
      <p:sp>
        <p:nvSpPr>
          <p:cNvPr id="43" name="Shape 33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6" name="Text 35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85725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528638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业务闭环支撑功能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971550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交易、合规与数据决策的全流程保障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428625" y="1335881"/>
            <a:ext cx="2647931" cy="204378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335881"/>
            <a:ext cx="2647931" cy="42863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1478756"/>
            <a:ext cx="257175" cy="257175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0" y="1543050"/>
            <a:ext cx="16073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0113" y="1500188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直连交易工作台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71500" y="1821656"/>
            <a:ext cx="23621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可视化的看板视图，实现从“待联系”到“已签约”的全流程追踪。</a:t>
            </a:r>
            <a:endParaRPr lang="en-US" sz="674" dirty="0"/>
          </a:p>
        </p:txBody>
      </p:sp>
      <p:sp>
        <p:nvSpPr>
          <p:cNvPr id="12" name="Text 7"/>
          <p:cNvSpPr/>
          <p:nvPr/>
        </p:nvSpPr>
        <p:spPr>
          <a:xfrm>
            <a:off x="685800" y="220451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全链路状态可视化</a:t>
            </a:r>
            <a:endParaRPr lang="en-US" sz="621" dirty="0"/>
          </a:p>
        </p:txBody>
      </p:sp>
      <p:sp>
        <p:nvSpPr>
          <p:cNvPr id="13" name="Text 8"/>
          <p:cNvSpPr/>
          <p:nvPr/>
        </p:nvSpPr>
        <p:spPr>
          <a:xfrm>
            <a:off x="685800" y="237596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支持在线审稿与反馈</a:t>
            </a:r>
            <a:endParaRPr lang="en-US" sz="621" dirty="0"/>
          </a:p>
        </p:txBody>
      </p:sp>
      <p:sp>
        <p:nvSpPr>
          <p:cNvPr id="14" name="Text 9"/>
          <p:cNvSpPr/>
          <p:nvPr/>
        </p:nvSpPr>
        <p:spPr>
          <a:xfrm>
            <a:off x="685800" y="254741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告别 Excel 手工台账</a:t>
            </a:r>
            <a:endParaRPr lang="en-US" sz="621" dirty="0"/>
          </a:p>
        </p:txBody>
      </p:sp>
      <p:sp>
        <p:nvSpPr>
          <p:cNvPr id="15" name="Shape 10"/>
          <p:cNvSpPr/>
          <p:nvPr/>
        </p:nvSpPr>
        <p:spPr>
          <a:xfrm>
            <a:off x="571500" y="2818879"/>
            <a:ext cx="2362181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2938" y="2904604"/>
            <a:ext cx="2219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97706"/>
                </a:solidFill>
              </a:rPr>
              <a:t>Core Value</a:t>
            </a:r>
            <a:endParaRPr lang="en-US" sz="534" dirty="0"/>
          </a:p>
        </p:txBody>
      </p:sp>
      <p:sp>
        <p:nvSpPr>
          <p:cNvPr id="17" name="Text 12"/>
          <p:cNvSpPr/>
          <p:nvPr/>
        </p:nvSpPr>
        <p:spPr>
          <a:xfrm>
            <a:off x="642938" y="3051051"/>
            <a:ext cx="22193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流程标准化，拒绝黑盒操作</a:t>
            </a:r>
            <a:endParaRPr lang="en-US" sz="621" dirty="0"/>
          </a:p>
        </p:txBody>
      </p:sp>
      <p:sp>
        <p:nvSpPr>
          <p:cNvPr id="18" name="Shape 13"/>
          <p:cNvSpPr/>
          <p:nvPr/>
        </p:nvSpPr>
        <p:spPr>
          <a:xfrm>
            <a:off x="3248006" y="1335881"/>
            <a:ext cx="2647959" cy="204378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4"/>
          <p:cNvSpPr/>
          <p:nvPr/>
        </p:nvSpPr>
        <p:spPr>
          <a:xfrm>
            <a:off x="3248006" y="1335881"/>
            <a:ext cx="2647959" cy="428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0" name="Shape 15"/>
          <p:cNvSpPr/>
          <p:nvPr/>
        </p:nvSpPr>
        <p:spPr>
          <a:xfrm>
            <a:off x="3390881" y="1478756"/>
            <a:ext cx="257175" cy="257175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138" y="1543050"/>
            <a:ext cx="144661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19494" y="1500188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电子签约与合规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3390881" y="1821656"/>
            <a:ext cx="2362209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集成 Click-to-sign 简易电子签，建立可审计的数据留存策略。</a:t>
            </a:r>
            <a:endParaRPr lang="en-US" sz="674" dirty="0"/>
          </a:p>
        </p:txBody>
      </p:sp>
      <p:sp>
        <p:nvSpPr>
          <p:cNvPr id="24" name="Text 18"/>
          <p:cNvSpPr/>
          <p:nvPr/>
        </p:nvSpPr>
        <p:spPr>
          <a:xfrm>
            <a:off x="3505181" y="2204517"/>
            <a:ext cx="22479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触达链路提供退订机制</a:t>
            </a:r>
            <a:endParaRPr lang="en-US" sz="621" dirty="0"/>
          </a:p>
        </p:txBody>
      </p:sp>
      <p:sp>
        <p:nvSpPr>
          <p:cNvPr id="25" name="Text 19"/>
          <p:cNvSpPr/>
          <p:nvPr/>
        </p:nvSpPr>
        <p:spPr>
          <a:xfrm>
            <a:off x="3505181" y="2375967"/>
            <a:ext cx="22479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关键操作全链路留痕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3505181" y="2547417"/>
            <a:ext cx="22479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满足内部审计抽查要求</a:t>
            </a:r>
            <a:endParaRPr lang="en-US" sz="621" dirty="0"/>
          </a:p>
        </p:txBody>
      </p:sp>
      <p:sp>
        <p:nvSpPr>
          <p:cNvPr id="27" name="Shape 21"/>
          <p:cNvSpPr/>
          <p:nvPr/>
        </p:nvSpPr>
        <p:spPr>
          <a:xfrm>
            <a:off x="3390881" y="2818879"/>
            <a:ext cx="2362209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FDE68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462319" y="2904604"/>
            <a:ext cx="22193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97706"/>
                </a:solidFill>
              </a:rPr>
              <a:t>Risk Control</a:t>
            </a:r>
            <a:endParaRPr lang="en-US" sz="534" dirty="0"/>
          </a:p>
        </p:txBody>
      </p:sp>
      <p:sp>
        <p:nvSpPr>
          <p:cNvPr id="29" name="Text 23"/>
          <p:cNvSpPr/>
          <p:nvPr/>
        </p:nvSpPr>
        <p:spPr>
          <a:xfrm>
            <a:off x="3462319" y="3051051"/>
            <a:ext cx="22193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上线门槛：法务评审与风险验收</a:t>
            </a:r>
            <a:endParaRPr lang="en-US" sz="621" dirty="0"/>
          </a:p>
        </p:txBody>
      </p:sp>
      <p:sp>
        <p:nvSpPr>
          <p:cNvPr id="30" name="Shape 24"/>
          <p:cNvSpPr/>
          <p:nvPr/>
        </p:nvSpPr>
        <p:spPr>
          <a:xfrm>
            <a:off x="6067416" y="1335881"/>
            <a:ext cx="2647931" cy="204378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5"/>
          <p:cNvSpPr/>
          <p:nvPr/>
        </p:nvSpPr>
        <p:spPr>
          <a:xfrm>
            <a:off x="6067416" y="1335881"/>
            <a:ext cx="2647931" cy="42863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32" name="Shape 26"/>
          <p:cNvSpPr/>
          <p:nvPr/>
        </p:nvSpPr>
        <p:spPr>
          <a:xfrm>
            <a:off x="6210291" y="1478756"/>
            <a:ext cx="257175" cy="257175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548" y="1543050"/>
            <a:ext cx="144661" cy="128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538903" y="1500188"/>
            <a:ext cx="7602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BI 数据看板</a:t>
            </a:r>
            <a:endParaRPr lang="en-US" sz="987" dirty="0"/>
          </a:p>
        </p:txBody>
      </p:sp>
      <p:sp>
        <p:nvSpPr>
          <p:cNvPr id="35" name="Text 28"/>
          <p:cNvSpPr/>
          <p:nvPr/>
        </p:nvSpPr>
        <p:spPr>
          <a:xfrm>
            <a:off x="6210291" y="1821656"/>
            <a:ext cx="23621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实时计算 Campaign ROI，为人效考核与预算优化提供依据。</a:t>
            </a:r>
            <a:endParaRPr lang="en-US" sz="674" dirty="0"/>
          </a:p>
        </p:txBody>
      </p:sp>
      <p:sp>
        <p:nvSpPr>
          <p:cNvPr id="36" name="Text 29"/>
          <p:cNvSpPr/>
          <p:nvPr/>
        </p:nvSpPr>
        <p:spPr>
          <a:xfrm>
            <a:off x="6324591" y="220451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ROI 实时计算与归因</a:t>
            </a:r>
            <a:endParaRPr lang="en-US" sz="621" dirty="0"/>
          </a:p>
        </p:txBody>
      </p:sp>
      <p:sp>
        <p:nvSpPr>
          <p:cNvPr id="37" name="Text 30"/>
          <p:cNvSpPr/>
          <p:nvPr/>
        </p:nvSpPr>
        <p:spPr>
          <a:xfrm>
            <a:off x="6324591" y="237596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人效考核数据化</a:t>
            </a:r>
            <a:endParaRPr lang="en-US" sz="621" dirty="0"/>
          </a:p>
        </p:txBody>
      </p:sp>
      <p:sp>
        <p:nvSpPr>
          <p:cNvPr id="38" name="Text 31"/>
          <p:cNvSpPr/>
          <p:nvPr/>
        </p:nvSpPr>
        <p:spPr>
          <a:xfrm>
            <a:off x="6324591" y="2547417"/>
            <a:ext cx="2247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预算动态优化建议</a:t>
            </a:r>
            <a:endParaRPr lang="en-US" sz="621" dirty="0"/>
          </a:p>
        </p:txBody>
      </p:sp>
      <p:sp>
        <p:nvSpPr>
          <p:cNvPr id="39" name="Shape 32"/>
          <p:cNvSpPr/>
          <p:nvPr/>
        </p:nvSpPr>
        <p:spPr>
          <a:xfrm>
            <a:off x="6210291" y="2776017"/>
            <a:ext cx="2362181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281728" y="2847454"/>
            <a:ext cx="2219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97706"/>
                </a:solidFill>
              </a:rPr>
              <a:t>Decision Support</a:t>
            </a:r>
            <a:endParaRPr lang="en-US" sz="534" dirty="0"/>
          </a:p>
        </p:txBody>
      </p:sp>
      <p:sp>
        <p:nvSpPr>
          <p:cNvPr id="41" name="Text 34"/>
          <p:cNvSpPr/>
          <p:nvPr/>
        </p:nvSpPr>
        <p:spPr>
          <a:xfrm>
            <a:off x="6281728" y="2993901"/>
            <a:ext cx="22193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数据驱动的精细化运营</a:t>
            </a:r>
            <a:endParaRPr lang="en-US" sz="621" dirty="0"/>
          </a:p>
        </p:txBody>
      </p:sp>
      <p:sp>
        <p:nvSpPr>
          <p:cNvPr id="42" name="Shape 35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5" name="Text 37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业务现状诊断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64419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业务健康度评估：自动化与工具缺位是最大瓶颈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28625" y="1414463"/>
            <a:ext cx="1491593" cy="214313"/>
          </a:xfrm>
          <a:prstGeom prst="rect">
            <a:avLst/>
          </a:prstGeom>
          <a:noFill/>
          <a:ln/>
        </p:spPr>
        <p:txBody>
          <a:bodyPr wrap="square" lIns="8509" tIns="8509" rIns="8509" bIns="3403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业务模块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1920218" y="1414463"/>
            <a:ext cx="685800" cy="214313"/>
          </a:xfrm>
          <a:prstGeom prst="rect">
            <a:avLst/>
          </a:prstGeom>
          <a:noFill/>
          <a:ln/>
        </p:spPr>
        <p:txBody>
          <a:bodyPr wrap="square" lIns="8509" tIns="8509" rIns="8509" bIns="3403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状态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2606018" y="1414463"/>
            <a:ext cx="2900363" cy="214313"/>
          </a:xfrm>
          <a:prstGeom prst="rect">
            <a:avLst/>
          </a:prstGeom>
          <a:noFill/>
          <a:ln/>
        </p:spPr>
        <p:txBody>
          <a:bodyPr wrap="square" lIns="8509" tIns="8509" rIns="8509" bIns="3403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2025年痛点 (现状)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506380" y="1414463"/>
            <a:ext cx="3208995" cy="214313"/>
          </a:xfrm>
          <a:prstGeom prst="rect">
            <a:avLst/>
          </a:prstGeom>
          <a:noFill/>
          <a:ln/>
        </p:spPr>
        <p:txBody>
          <a:bodyPr wrap="square" lIns="8509" tIns="8509" rIns="8509" bIns="3403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2026年目标 (计划)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428625" y="1671638"/>
            <a:ext cx="149159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1671638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8"/>
          <p:cNvSpPr/>
          <p:nvPr/>
        </p:nvSpPr>
        <p:spPr>
          <a:xfrm>
            <a:off x="428625" y="2163440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428625" y="1671638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0"/>
          <p:cNvSpPr/>
          <p:nvPr/>
        </p:nvSpPr>
        <p:spPr>
          <a:xfrm>
            <a:off x="471488" y="1723430"/>
            <a:ext cx="400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达人建联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471488" y="1868091"/>
            <a:ext cx="300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自动化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1920218" y="1671638"/>
            <a:ext cx="685800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3"/>
          <p:cNvSpPr/>
          <p:nvPr/>
        </p:nvSpPr>
        <p:spPr>
          <a:xfrm>
            <a:off x="1920218" y="1671638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4"/>
          <p:cNvSpPr/>
          <p:nvPr/>
        </p:nvSpPr>
        <p:spPr>
          <a:xfrm>
            <a:off x="1920218" y="2163440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680" y="1714500"/>
            <a:ext cx="142875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3080" y="1943100"/>
            <a:ext cx="600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高危</a:t>
            </a:r>
            <a:endParaRPr lang="en-US" sz="584" dirty="0"/>
          </a:p>
        </p:txBody>
      </p:sp>
      <p:sp>
        <p:nvSpPr>
          <p:cNvPr id="21" name="Shape 16"/>
          <p:cNvSpPr/>
          <p:nvPr/>
        </p:nvSpPr>
        <p:spPr>
          <a:xfrm>
            <a:off x="2606018" y="1671638"/>
            <a:ext cx="290036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17"/>
          <p:cNvSpPr/>
          <p:nvPr/>
        </p:nvSpPr>
        <p:spPr>
          <a:xfrm>
            <a:off x="2606018" y="1671638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18"/>
          <p:cNvSpPr/>
          <p:nvPr/>
        </p:nvSpPr>
        <p:spPr>
          <a:xfrm>
            <a:off x="2606018" y="2163440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9"/>
          <p:cNvSpPr/>
          <p:nvPr/>
        </p:nvSpPr>
        <p:spPr>
          <a:xfrm>
            <a:off x="2648880" y="1714500"/>
            <a:ext cx="2814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纯人工操作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2763180" y="1887736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覆盖率 &lt;1%，回复率 &lt;10%</a:t>
            </a:r>
            <a:endParaRPr lang="en-US" sz="621" dirty="0"/>
          </a:p>
        </p:txBody>
      </p:sp>
      <p:sp>
        <p:nvSpPr>
          <p:cNvPr id="26" name="Text 21"/>
          <p:cNvSpPr/>
          <p:nvPr/>
        </p:nvSpPr>
        <p:spPr>
          <a:xfrm>
            <a:off x="2763180" y="2000585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单人日处理仅 20-50 人</a:t>
            </a:r>
            <a:endParaRPr lang="en-US" sz="621" dirty="0"/>
          </a:p>
        </p:txBody>
      </p:sp>
      <p:sp>
        <p:nvSpPr>
          <p:cNvPr id="27" name="Shape 22"/>
          <p:cNvSpPr/>
          <p:nvPr/>
        </p:nvSpPr>
        <p:spPr>
          <a:xfrm>
            <a:off x="5506380" y="1671638"/>
            <a:ext cx="3208995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3"/>
          <p:cNvSpPr/>
          <p:nvPr/>
        </p:nvSpPr>
        <p:spPr>
          <a:xfrm>
            <a:off x="5506380" y="1671638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4"/>
          <p:cNvSpPr/>
          <p:nvPr/>
        </p:nvSpPr>
        <p:spPr>
          <a:xfrm>
            <a:off x="8708231" y="1671638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5"/>
          <p:cNvSpPr/>
          <p:nvPr/>
        </p:nvSpPr>
        <p:spPr>
          <a:xfrm>
            <a:off x="5506380" y="2163440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6"/>
          <p:cNvSpPr/>
          <p:nvPr/>
        </p:nvSpPr>
        <p:spPr>
          <a:xfrm>
            <a:off x="5549243" y="1714500"/>
            <a:ext cx="312327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10x 人效提升</a:t>
            </a:r>
            <a:endParaRPr lang="en-US" sz="683" dirty="0"/>
          </a:p>
        </p:txBody>
      </p:sp>
      <p:sp>
        <p:nvSpPr>
          <p:cNvPr id="32" name="Text 27"/>
          <p:cNvSpPr/>
          <p:nvPr/>
        </p:nvSpPr>
        <p:spPr>
          <a:xfrm>
            <a:off x="5663543" y="1887736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回复率提升至 15%+ (H1 KR2)</a:t>
            </a:r>
            <a:endParaRPr lang="en-US" sz="621" dirty="0"/>
          </a:p>
        </p:txBody>
      </p:sp>
      <p:sp>
        <p:nvSpPr>
          <p:cNvPr id="33" name="Text 28"/>
          <p:cNvSpPr/>
          <p:nvPr/>
        </p:nvSpPr>
        <p:spPr>
          <a:xfrm>
            <a:off x="5663543" y="2000585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单人管理扩容至 50/案 (H1 KR2)</a:t>
            </a:r>
            <a:endParaRPr lang="en-US" sz="621" dirty="0"/>
          </a:p>
        </p:txBody>
      </p:sp>
      <p:sp>
        <p:nvSpPr>
          <p:cNvPr id="34" name="Shape 29"/>
          <p:cNvSpPr/>
          <p:nvPr/>
        </p:nvSpPr>
        <p:spPr>
          <a:xfrm>
            <a:off x="428625" y="2199159"/>
            <a:ext cx="149159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Shape 30"/>
          <p:cNvSpPr/>
          <p:nvPr/>
        </p:nvSpPr>
        <p:spPr>
          <a:xfrm>
            <a:off x="428625" y="2199159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1"/>
          <p:cNvSpPr/>
          <p:nvPr/>
        </p:nvSpPr>
        <p:spPr>
          <a:xfrm>
            <a:off x="428625" y="2690961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2"/>
          <p:cNvSpPr/>
          <p:nvPr/>
        </p:nvSpPr>
        <p:spPr>
          <a:xfrm>
            <a:off x="428625" y="2199159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3"/>
          <p:cNvSpPr/>
          <p:nvPr/>
        </p:nvSpPr>
        <p:spPr>
          <a:xfrm>
            <a:off x="471488" y="2250951"/>
            <a:ext cx="400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达人数据</a:t>
            </a:r>
            <a:endParaRPr lang="en-US" sz="683" dirty="0"/>
          </a:p>
        </p:txBody>
      </p:sp>
      <p:sp>
        <p:nvSpPr>
          <p:cNvPr id="39" name="Text 34"/>
          <p:cNvSpPr/>
          <p:nvPr/>
        </p:nvSpPr>
        <p:spPr>
          <a:xfrm>
            <a:off x="471488" y="2395612"/>
            <a:ext cx="200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管理</a:t>
            </a:r>
            <a:endParaRPr lang="en-US" sz="683" dirty="0"/>
          </a:p>
        </p:txBody>
      </p:sp>
      <p:sp>
        <p:nvSpPr>
          <p:cNvPr id="40" name="Shape 35"/>
          <p:cNvSpPr/>
          <p:nvPr/>
        </p:nvSpPr>
        <p:spPr>
          <a:xfrm>
            <a:off x="1920218" y="2199159"/>
            <a:ext cx="685800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6"/>
          <p:cNvSpPr/>
          <p:nvPr/>
        </p:nvSpPr>
        <p:spPr>
          <a:xfrm>
            <a:off x="1920218" y="2199159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37"/>
          <p:cNvSpPr/>
          <p:nvPr/>
        </p:nvSpPr>
        <p:spPr>
          <a:xfrm>
            <a:off x="1920218" y="2690961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680" y="2242021"/>
            <a:ext cx="142875" cy="200025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963080" y="2470621"/>
            <a:ext cx="600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高危</a:t>
            </a:r>
            <a:endParaRPr lang="en-US" sz="584" dirty="0"/>
          </a:p>
        </p:txBody>
      </p:sp>
      <p:sp>
        <p:nvSpPr>
          <p:cNvPr id="45" name="Shape 39"/>
          <p:cNvSpPr/>
          <p:nvPr/>
        </p:nvSpPr>
        <p:spPr>
          <a:xfrm>
            <a:off x="2606018" y="2199159"/>
            <a:ext cx="290036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6" name="Shape 40"/>
          <p:cNvSpPr/>
          <p:nvPr/>
        </p:nvSpPr>
        <p:spPr>
          <a:xfrm>
            <a:off x="2606018" y="2199159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Shape 41"/>
          <p:cNvSpPr/>
          <p:nvPr/>
        </p:nvSpPr>
        <p:spPr>
          <a:xfrm>
            <a:off x="2606018" y="2690961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2"/>
          <p:cNvSpPr/>
          <p:nvPr/>
        </p:nvSpPr>
        <p:spPr>
          <a:xfrm>
            <a:off x="2648880" y="2242021"/>
            <a:ext cx="2814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数据孤岛</a:t>
            </a:r>
            <a:endParaRPr lang="en-US" sz="683" dirty="0"/>
          </a:p>
        </p:txBody>
      </p:sp>
      <p:sp>
        <p:nvSpPr>
          <p:cNvPr id="49" name="Text 43"/>
          <p:cNvSpPr/>
          <p:nvPr/>
        </p:nvSpPr>
        <p:spPr>
          <a:xfrm>
            <a:off x="2763180" y="2415257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复用率 &lt;10%，无价格依据</a:t>
            </a:r>
            <a:endParaRPr lang="en-US" sz="621" dirty="0"/>
          </a:p>
        </p:txBody>
      </p:sp>
      <p:sp>
        <p:nvSpPr>
          <p:cNvPr id="50" name="Text 44"/>
          <p:cNvSpPr/>
          <p:nvPr/>
        </p:nvSpPr>
        <p:spPr>
          <a:xfrm>
            <a:off x="2763180" y="2528106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清洗耗时 &gt;5小时/周/人</a:t>
            </a:r>
            <a:endParaRPr lang="en-US" sz="621" dirty="0"/>
          </a:p>
        </p:txBody>
      </p:sp>
      <p:sp>
        <p:nvSpPr>
          <p:cNvPr id="51" name="Shape 45"/>
          <p:cNvSpPr/>
          <p:nvPr/>
        </p:nvSpPr>
        <p:spPr>
          <a:xfrm>
            <a:off x="5506380" y="2199159"/>
            <a:ext cx="3208995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46"/>
          <p:cNvSpPr/>
          <p:nvPr/>
        </p:nvSpPr>
        <p:spPr>
          <a:xfrm>
            <a:off x="5506380" y="2199159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Shape 47"/>
          <p:cNvSpPr/>
          <p:nvPr/>
        </p:nvSpPr>
        <p:spPr>
          <a:xfrm>
            <a:off x="8708231" y="2199159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Shape 48"/>
          <p:cNvSpPr/>
          <p:nvPr/>
        </p:nvSpPr>
        <p:spPr>
          <a:xfrm>
            <a:off x="5506380" y="2690961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49"/>
          <p:cNvSpPr/>
          <p:nvPr/>
        </p:nvSpPr>
        <p:spPr>
          <a:xfrm>
            <a:off x="5549243" y="2242021"/>
            <a:ext cx="312327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企业级直连数据库</a:t>
            </a:r>
            <a:endParaRPr lang="en-US" sz="683" dirty="0"/>
          </a:p>
        </p:txBody>
      </p:sp>
      <p:sp>
        <p:nvSpPr>
          <p:cNvPr id="56" name="Text 50"/>
          <p:cNvSpPr/>
          <p:nvPr/>
        </p:nvSpPr>
        <p:spPr>
          <a:xfrm>
            <a:off x="5663543" y="2415257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10,000+ 数据入库</a:t>
            </a:r>
            <a:endParaRPr lang="en-US" sz="621" dirty="0"/>
          </a:p>
        </p:txBody>
      </p:sp>
      <p:sp>
        <p:nvSpPr>
          <p:cNvPr id="57" name="Text 51"/>
          <p:cNvSpPr/>
          <p:nvPr/>
        </p:nvSpPr>
        <p:spPr>
          <a:xfrm>
            <a:off x="5663543" y="2528106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AI 估价与匹配分模型</a:t>
            </a:r>
            <a:endParaRPr lang="en-US" sz="621" dirty="0"/>
          </a:p>
        </p:txBody>
      </p:sp>
      <p:sp>
        <p:nvSpPr>
          <p:cNvPr id="58" name="Shape 52"/>
          <p:cNvSpPr/>
          <p:nvPr/>
        </p:nvSpPr>
        <p:spPr>
          <a:xfrm>
            <a:off x="428625" y="2726680"/>
            <a:ext cx="149159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9" name="Shape 53"/>
          <p:cNvSpPr/>
          <p:nvPr/>
        </p:nvSpPr>
        <p:spPr>
          <a:xfrm>
            <a:off x="428625" y="2726680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Shape 54"/>
          <p:cNvSpPr/>
          <p:nvPr/>
        </p:nvSpPr>
        <p:spPr>
          <a:xfrm>
            <a:off x="428625" y="3218483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5"/>
          <p:cNvSpPr/>
          <p:nvPr/>
        </p:nvSpPr>
        <p:spPr>
          <a:xfrm>
            <a:off x="428625" y="2726680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56"/>
          <p:cNvSpPr/>
          <p:nvPr/>
        </p:nvSpPr>
        <p:spPr>
          <a:xfrm>
            <a:off x="471488" y="2778472"/>
            <a:ext cx="300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财务与</a:t>
            </a:r>
            <a:endParaRPr lang="en-US" sz="683" dirty="0"/>
          </a:p>
        </p:txBody>
      </p:sp>
      <p:sp>
        <p:nvSpPr>
          <p:cNvPr id="63" name="Text 57"/>
          <p:cNvSpPr/>
          <p:nvPr/>
        </p:nvSpPr>
        <p:spPr>
          <a:xfrm>
            <a:off x="471488" y="2923133"/>
            <a:ext cx="200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合规</a:t>
            </a:r>
            <a:endParaRPr lang="en-US" sz="683" dirty="0"/>
          </a:p>
        </p:txBody>
      </p:sp>
      <p:sp>
        <p:nvSpPr>
          <p:cNvPr id="64" name="Shape 58"/>
          <p:cNvSpPr/>
          <p:nvPr/>
        </p:nvSpPr>
        <p:spPr>
          <a:xfrm>
            <a:off x="1920218" y="2726680"/>
            <a:ext cx="685800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5" name="Shape 59"/>
          <p:cNvSpPr/>
          <p:nvPr/>
        </p:nvSpPr>
        <p:spPr>
          <a:xfrm>
            <a:off x="1920218" y="2726680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6" name="Shape 60"/>
          <p:cNvSpPr/>
          <p:nvPr/>
        </p:nvSpPr>
        <p:spPr>
          <a:xfrm>
            <a:off x="1920218" y="3218483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80" y="2769543"/>
            <a:ext cx="142875" cy="200025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1963080" y="2998143"/>
            <a:ext cx="600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97706"/>
                </a:solidFill>
              </a:rPr>
              <a:t>警告</a:t>
            </a:r>
            <a:endParaRPr lang="en-US" sz="584" dirty="0"/>
          </a:p>
        </p:txBody>
      </p:sp>
      <p:sp>
        <p:nvSpPr>
          <p:cNvPr id="69" name="Shape 62"/>
          <p:cNvSpPr/>
          <p:nvPr/>
        </p:nvSpPr>
        <p:spPr>
          <a:xfrm>
            <a:off x="2606018" y="2726680"/>
            <a:ext cx="290036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0" name="Shape 63"/>
          <p:cNvSpPr/>
          <p:nvPr/>
        </p:nvSpPr>
        <p:spPr>
          <a:xfrm>
            <a:off x="2606018" y="2726680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1" name="Shape 64"/>
          <p:cNvSpPr/>
          <p:nvPr/>
        </p:nvSpPr>
        <p:spPr>
          <a:xfrm>
            <a:off x="2606018" y="3218483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65"/>
          <p:cNvSpPr/>
          <p:nvPr/>
        </p:nvSpPr>
        <p:spPr>
          <a:xfrm>
            <a:off x="2648880" y="2769543"/>
            <a:ext cx="2814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线下流程割裂</a:t>
            </a:r>
            <a:endParaRPr lang="en-US" sz="683" dirty="0"/>
          </a:p>
        </p:txBody>
      </p:sp>
      <p:sp>
        <p:nvSpPr>
          <p:cNvPr id="73" name="Text 66"/>
          <p:cNvSpPr/>
          <p:nvPr/>
        </p:nvSpPr>
        <p:spPr>
          <a:xfrm>
            <a:off x="2763180" y="2942779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签约耗时 3-5 天</a:t>
            </a:r>
            <a:endParaRPr lang="en-US" sz="621" dirty="0"/>
          </a:p>
        </p:txBody>
      </p:sp>
      <p:sp>
        <p:nvSpPr>
          <p:cNvPr id="74" name="Text 67"/>
          <p:cNvSpPr/>
          <p:nvPr/>
        </p:nvSpPr>
        <p:spPr>
          <a:xfrm>
            <a:off x="2763180" y="3055627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存在 GDPR 风险</a:t>
            </a:r>
            <a:endParaRPr lang="en-US" sz="621" dirty="0"/>
          </a:p>
        </p:txBody>
      </p:sp>
      <p:sp>
        <p:nvSpPr>
          <p:cNvPr id="75" name="Shape 68"/>
          <p:cNvSpPr/>
          <p:nvPr/>
        </p:nvSpPr>
        <p:spPr>
          <a:xfrm>
            <a:off x="5506380" y="2726680"/>
            <a:ext cx="3208995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6" name="Shape 69"/>
          <p:cNvSpPr/>
          <p:nvPr/>
        </p:nvSpPr>
        <p:spPr>
          <a:xfrm>
            <a:off x="5506380" y="2726680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Shape 70"/>
          <p:cNvSpPr/>
          <p:nvPr/>
        </p:nvSpPr>
        <p:spPr>
          <a:xfrm>
            <a:off x="8708231" y="2726680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Shape 71"/>
          <p:cNvSpPr/>
          <p:nvPr/>
        </p:nvSpPr>
        <p:spPr>
          <a:xfrm>
            <a:off x="5506380" y="3218483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2"/>
          <p:cNvSpPr/>
          <p:nvPr/>
        </p:nvSpPr>
        <p:spPr>
          <a:xfrm>
            <a:off x="5549243" y="2769543"/>
            <a:ext cx="312327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在线闭环</a:t>
            </a:r>
            <a:endParaRPr lang="en-US" sz="683" dirty="0"/>
          </a:p>
        </p:txBody>
      </p:sp>
      <p:sp>
        <p:nvSpPr>
          <p:cNvPr id="80" name="Text 73"/>
          <p:cNvSpPr/>
          <p:nvPr/>
        </p:nvSpPr>
        <p:spPr>
          <a:xfrm>
            <a:off x="5663543" y="2942779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24小时在线签约</a:t>
            </a:r>
            <a:endParaRPr lang="en-US" sz="621" dirty="0"/>
          </a:p>
        </p:txBody>
      </p:sp>
      <p:sp>
        <p:nvSpPr>
          <p:cNvPr id="81" name="Text 74"/>
          <p:cNvSpPr/>
          <p:nvPr/>
        </p:nvSpPr>
        <p:spPr>
          <a:xfrm>
            <a:off x="5663543" y="3055627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100% 审计合规</a:t>
            </a:r>
            <a:endParaRPr lang="en-US" sz="621" dirty="0"/>
          </a:p>
        </p:txBody>
      </p:sp>
      <p:sp>
        <p:nvSpPr>
          <p:cNvPr id="82" name="Shape 75"/>
          <p:cNvSpPr/>
          <p:nvPr/>
        </p:nvSpPr>
        <p:spPr>
          <a:xfrm>
            <a:off x="428625" y="3254201"/>
            <a:ext cx="149159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3" name="Shape 76"/>
          <p:cNvSpPr/>
          <p:nvPr/>
        </p:nvSpPr>
        <p:spPr>
          <a:xfrm>
            <a:off x="428625" y="3254201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77"/>
          <p:cNvSpPr/>
          <p:nvPr/>
        </p:nvSpPr>
        <p:spPr>
          <a:xfrm>
            <a:off x="428625" y="3746004"/>
            <a:ext cx="149159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Shape 78"/>
          <p:cNvSpPr/>
          <p:nvPr/>
        </p:nvSpPr>
        <p:spPr>
          <a:xfrm>
            <a:off x="428625" y="3254201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6" name="Text 79"/>
          <p:cNvSpPr/>
          <p:nvPr/>
        </p:nvSpPr>
        <p:spPr>
          <a:xfrm>
            <a:off x="471488" y="3305994"/>
            <a:ext cx="400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KOL推荐</a:t>
            </a:r>
            <a:endParaRPr lang="en-US" sz="683" dirty="0"/>
          </a:p>
        </p:txBody>
      </p:sp>
      <p:sp>
        <p:nvSpPr>
          <p:cNvPr id="87" name="Text 80"/>
          <p:cNvSpPr/>
          <p:nvPr/>
        </p:nvSpPr>
        <p:spPr>
          <a:xfrm>
            <a:off x="471488" y="3450654"/>
            <a:ext cx="200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2E"/>
                </a:solidFill>
              </a:rPr>
              <a:t>名单</a:t>
            </a:r>
            <a:endParaRPr lang="en-US" sz="683" dirty="0"/>
          </a:p>
        </p:txBody>
      </p:sp>
      <p:sp>
        <p:nvSpPr>
          <p:cNvPr id="88" name="Shape 81"/>
          <p:cNvSpPr/>
          <p:nvPr/>
        </p:nvSpPr>
        <p:spPr>
          <a:xfrm>
            <a:off x="1920218" y="3254201"/>
            <a:ext cx="685800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9" name="Shape 82"/>
          <p:cNvSpPr/>
          <p:nvPr/>
        </p:nvSpPr>
        <p:spPr>
          <a:xfrm>
            <a:off x="1920218" y="3254201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0" name="Shape 83"/>
          <p:cNvSpPr/>
          <p:nvPr/>
        </p:nvSpPr>
        <p:spPr>
          <a:xfrm>
            <a:off x="1920218" y="3746004"/>
            <a:ext cx="685800" cy="7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9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1680" y="3297064"/>
            <a:ext cx="142875" cy="200025"/>
          </a:xfrm>
          <a:prstGeom prst="rect">
            <a:avLst/>
          </a:prstGeom>
        </p:spPr>
      </p:pic>
      <p:sp>
        <p:nvSpPr>
          <p:cNvPr id="92" name="Text 84"/>
          <p:cNvSpPr/>
          <p:nvPr/>
        </p:nvSpPr>
        <p:spPr>
          <a:xfrm>
            <a:off x="1963080" y="3525664"/>
            <a:ext cx="600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缺口</a:t>
            </a:r>
            <a:endParaRPr lang="en-US" sz="584" dirty="0"/>
          </a:p>
        </p:txBody>
      </p:sp>
      <p:sp>
        <p:nvSpPr>
          <p:cNvPr id="93" name="Shape 85"/>
          <p:cNvSpPr/>
          <p:nvPr/>
        </p:nvSpPr>
        <p:spPr>
          <a:xfrm>
            <a:off x="2606018" y="3254201"/>
            <a:ext cx="2900363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4" name="Shape 86"/>
          <p:cNvSpPr/>
          <p:nvPr/>
        </p:nvSpPr>
        <p:spPr>
          <a:xfrm>
            <a:off x="2606018" y="3254201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5" name="Shape 87"/>
          <p:cNvSpPr/>
          <p:nvPr/>
        </p:nvSpPr>
        <p:spPr>
          <a:xfrm>
            <a:off x="2606018" y="3746004"/>
            <a:ext cx="29003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Text 88"/>
          <p:cNvSpPr/>
          <p:nvPr/>
        </p:nvSpPr>
        <p:spPr>
          <a:xfrm>
            <a:off x="2648880" y="3297064"/>
            <a:ext cx="2814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无工具支撑</a:t>
            </a:r>
            <a:endParaRPr lang="en-US" sz="683" dirty="0"/>
          </a:p>
        </p:txBody>
      </p:sp>
      <p:sp>
        <p:nvSpPr>
          <p:cNvPr id="97" name="Text 89"/>
          <p:cNvSpPr/>
          <p:nvPr/>
        </p:nvSpPr>
        <p:spPr>
          <a:xfrm>
            <a:off x="2763180" y="3470300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纯专家经验判断</a:t>
            </a:r>
            <a:endParaRPr lang="en-US" sz="621" dirty="0"/>
          </a:p>
        </p:txBody>
      </p:sp>
      <p:sp>
        <p:nvSpPr>
          <p:cNvPr id="98" name="Text 90"/>
          <p:cNvSpPr/>
          <p:nvPr/>
        </p:nvSpPr>
        <p:spPr>
          <a:xfrm>
            <a:off x="2763180" y="3583149"/>
            <a:ext cx="2700338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缺失具体推荐理由</a:t>
            </a:r>
            <a:endParaRPr lang="en-US" sz="621" dirty="0"/>
          </a:p>
        </p:txBody>
      </p:sp>
      <p:sp>
        <p:nvSpPr>
          <p:cNvPr id="99" name="Shape 91"/>
          <p:cNvSpPr/>
          <p:nvPr/>
        </p:nvSpPr>
        <p:spPr>
          <a:xfrm>
            <a:off x="5506380" y="3254201"/>
            <a:ext cx="3208995" cy="4989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0" name="Shape 92"/>
          <p:cNvSpPr/>
          <p:nvPr/>
        </p:nvSpPr>
        <p:spPr>
          <a:xfrm>
            <a:off x="5506380" y="3254201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1" name="Shape 93"/>
          <p:cNvSpPr/>
          <p:nvPr/>
        </p:nvSpPr>
        <p:spPr>
          <a:xfrm>
            <a:off x="8708231" y="3254201"/>
            <a:ext cx="7144" cy="4989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2" name="Shape 94"/>
          <p:cNvSpPr/>
          <p:nvPr/>
        </p:nvSpPr>
        <p:spPr>
          <a:xfrm>
            <a:off x="5506380" y="3746004"/>
            <a:ext cx="320899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3" name="Text 95"/>
          <p:cNvSpPr/>
          <p:nvPr/>
        </p:nvSpPr>
        <p:spPr>
          <a:xfrm>
            <a:off x="5549243" y="3297064"/>
            <a:ext cx="312327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智能推荐引擎</a:t>
            </a:r>
            <a:endParaRPr lang="en-US" sz="683" dirty="0"/>
          </a:p>
        </p:txBody>
      </p:sp>
      <p:sp>
        <p:nvSpPr>
          <p:cNvPr id="104" name="Text 96"/>
          <p:cNvSpPr/>
          <p:nvPr/>
        </p:nvSpPr>
        <p:spPr>
          <a:xfrm>
            <a:off x="5663543" y="3470300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填补工具空白</a:t>
            </a:r>
            <a:endParaRPr lang="en-US" sz="621" dirty="0"/>
          </a:p>
        </p:txBody>
      </p:sp>
      <p:sp>
        <p:nvSpPr>
          <p:cNvPr id="105" name="Text 97"/>
          <p:cNvSpPr/>
          <p:nvPr/>
        </p:nvSpPr>
        <p:spPr>
          <a:xfrm>
            <a:off x="5663543" y="3583149"/>
            <a:ext cx="3008970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推荐采纳率 ≥30%</a:t>
            </a:r>
            <a:endParaRPr lang="en-US" sz="621" dirty="0"/>
          </a:p>
        </p:txBody>
      </p:sp>
      <p:sp>
        <p:nvSpPr>
          <p:cNvPr id="106" name="Shape 98"/>
          <p:cNvSpPr/>
          <p:nvPr/>
        </p:nvSpPr>
        <p:spPr>
          <a:xfrm>
            <a:off x="428625" y="3896023"/>
            <a:ext cx="8286750" cy="485775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07" name="Shape 99"/>
          <p:cNvSpPr/>
          <p:nvPr/>
        </p:nvSpPr>
        <p:spPr>
          <a:xfrm>
            <a:off x="428625" y="3896023"/>
            <a:ext cx="28575" cy="485775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10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981748"/>
            <a:ext cx="128588" cy="228600"/>
          </a:xfrm>
          <a:prstGeom prst="rect">
            <a:avLst/>
          </a:prstGeom>
        </p:spPr>
      </p:pic>
      <p:sp>
        <p:nvSpPr>
          <p:cNvPr id="109" name="Text 100"/>
          <p:cNvSpPr/>
          <p:nvPr/>
        </p:nvSpPr>
        <p:spPr>
          <a:xfrm>
            <a:off x="728663" y="3953173"/>
            <a:ext cx="76727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核心诊断结论</a:t>
            </a:r>
            <a:endParaRPr lang="en-US" sz="885" dirty="0"/>
          </a:p>
        </p:txBody>
      </p:sp>
      <p:sp>
        <p:nvSpPr>
          <p:cNvPr id="110" name="Text 101"/>
          <p:cNvSpPr/>
          <p:nvPr/>
        </p:nvSpPr>
        <p:spPr>
          <a:xfrm>
            <a:off x="728663" y="4181773"/>
            <a:ext cx="76727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当前业务本质是“劳动密集型代理”。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自动化与工具缺位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是最大的瓶颈。不解决自动化建联，就无法规模化触达长尾达人；不解决智能推荐，就无法摆脱对资深专家的过度依赖。</a:t>
            </a:r>
            <a:endParaRPr lang="en-US" sz="727" dirty="0"/>
          </a:p>
        </p:txBody>
      </p:sp>
      <p:sp>
        <p:nvSpPr>
          <p:cNvPr id="111" name="Shape 102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1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113" name="Shape 103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114" name="Text 104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85725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528638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关键机会与主要风险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971550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直连模式与自动化带来结构性竞争优势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428625" y="1285875"/>
            <a:ext cx="285750" cy="285750"/>
          </a:xfrm>
          <a:prstGeom prst="ellipse">
            <a:avLst/>
          </a:prstGeom>
          <a:solidFill>
            <a:srgbClr val="4C00B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1371600"/>
            <a:ext cx="128588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1278731"/>
            <a:ext cx="23909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关键机会 (Opportunities)</a:t>
            </a:r>
            <a:endParaRPr lang="en-US" sz="1397" dirty="0"/>
          </a:p>
        </p:txBody>
      </p:sp>
      <p:sp>
        <p:nvSpPr>
          <p:cNvPr id="9" name="Shape 4"/>
          <p:cNvSpPr/>
          <p:nvPr/>
        </p:nvSpPr>
        <p:spPr>
          <a:xfrm>
            <a:off x="428625" y="1750219"/>
            <a:ext cx="4057650" cy="8813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5"/>
          <p:cNvSpPr/>
          <p:nvPr/>
        </p:nvSpPr>
        <p:spPr>
          <a:xfrm>
            <a:off x="428625" y="1750219"/>
            <a:ext cx="28575" cy="881360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11" name="Text 6"/>
          <p:cNvSpPr/>
          <p:nvPr/>
        </p:nvSpPr>
        <p:spPr>
          <a:xfrm>
            <a:off x="542925" y="186451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直连模式的结构性成本红利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542925" y="2135981"/>
            <a:ext cx="38290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去除中间商可直接节省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C00BD"/>
                </a:solidFill>
              </a:rPr>
              <a:t>20%-40% (需验证)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 溢价。</a:t>
            </a:r>
            <a:endParaRPr lang="en-US" sz="78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92263"/>
            <a:ext cx="87511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7586" y="2374404"/>
            <a:ext cx="21002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沉淀第一手数据，构建价格战难以撬动的壁垒。</a:t>
            </a:r>
            <a:endParaRPr lang="en-US" sz="727" dirty="0"/>
          </a:p>
        </p:txBody>
      </p:sp>
      <p:sp>
        <p:nvSpPr>
          <p:cNvPr id="15" name="Shape 9"/>
          <p:cNvSpPr/>
          <p:nvPr/>
        </p:nvSpPr>
        <p:spPr>
          <a:xfrm>
            <a:off x="428625" y="2803029"/>
            <a:ext cx="4057650" cy="8813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0"/>
          <p:cNvSpPr/>
          <p:nvPr/>
        </p:nvSpPr>
        <p:spPr>
          <a:xfrm>
            <a:off x="428625" y="2803029"/>
            <a:ext cx="28575" cy="881360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17" name="Text 11"/>
          <p:cNvSpPr/>
          <p:nvPr/>
        </p:nvSpPr>
        <p:spPr>
          <a:xfrm>
            <a:off x="542925" y="291732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自动化带来的十倍人效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542925" y="3188791"/>
            <a:ext cx="38290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AI Agent 使管理数万名“纳米级达人”成为可能。</a:t>
            </a:r>
            <a:endParaRPr lang="en-US" sz="78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445073"/>
            <a:ext cx="87511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7586" y="3427214"/>
            <a:ext cx="22091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媒介专员升级为“策略师”，优化 P&amp;L 的关键路径。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4657725" y="1285875"/>
            <a:ext cx="285750" cy="285750"/>
          </a:xfrm>
          <a:prstGeom prst="ellipse">
            <a:avLst/>
          </a:prstGeom>
          <a:solidFill>
            <a:srgbClr val="FFB419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1371600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9200" y="1278731"/>
            <a:ext cx="150359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97706"/>
                </a:solidFill>
              </a:rPr>
              <a:t>主要风险 (Risks)</a:t>
            </a:r>
            <a:endParaRPr lang="en-US" sz="1397" dirty="0"/>
          </a:p>
        </p:txBody>
      </p:sp>
      <p:sp>
        <p:nvSpPr>
          <p:cNvPr id="24" name="Shape 16"/>
          <p:cNvSpPr/>
          <p:nvPr/>
        </p:nvSpPr>
        <p:spPr>
          <a:xfrm>
            <a:off x="4657725" y="1750219"/>
            <a:ext cx="4057650" cy="119568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17"/>
          <p:cNvSpPr/>
          <p:nvPr/>
        </p:nvSpPr>
        <p:spPr>
          <a:xfrm>
            <a:off x="4657725" y="1750219"/>
            <a:ext cx="28575" cy="119568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6" name="Text 18"/>
          <p:cNvSpPr/>
          <p:nvPr/>
        </p:nvSpPr>
        <p:spPr>
          <a:xfrm>
            <a:off x="4772025" y="186451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数据采集成本激增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>
            <a:off x="4772025" y="2135981"/>
            <a:ext cx="38290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数据量与时效性提升可能导致成本指数级上升。</a:t>
            </a:r>
            <a:endParaRPr lang="en-US" sz="780" dirty="0"/>
          </a:p>
        </p:txBody>
      </p:sp>
      <p:sp>
        <p:nvSpPr>
          <p:cNvPr id="28" name="Shape 20"/>
          <p:cNvSpPr/>
          <p:nvPr/>
        </p:nvSpPr>
        <p:spPr>
          <a:xfrm>
            <a:off x="4772025" y="2395835"/>
            <a:ext cx="3829050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829175" y="2452985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缓解策略：</a:t>
            </a:r>
            <a:endParaRPr lang="en-US" sz="634" dirty="0"/>
          </a:p>
        </p:txBody>
      </p:sp>
      <p:sp>
        <p:nvSpPr>
          <p:cNvPr id="30" name="Text 22"/>
          <p:cNvSpPr/>
          <p:nvPr/>
        </p:nvSpPr>
        <p:spPr>
          <a:xfrm>
            <a:off x="4829175" y="2626221"/>
            <a:ext cx="29275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分层更新策略（P0商业API/P1官方API/P2低频），混合使用爬虫与API。</a:t>
            </a:r>
            <a:endParaRPr lang="en-US" sz="674" dirty="0"/>
          </a:p>
        </p:txBody>
      </p:sp>
      <p:sp>
        <p:nvSpPr>
          <p:cNvPr id="31" name="Shape 23"/>
          <p:cNvSpPr/>
          <p:nvPr/>
        </p:nvSpPr>
        <p:spPr>
          <a:xfrm>
            <a:off x="4657725" y="3103066"/>
            <a:ext cx="4057650" cy="119568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24"/>
          <p:cNvSpPr/>
          <p:nvPr/>
        </p:nvSpPr>
        <p:spPr>
          <a:xfrm>
            <a:off x="4657725" y="3103066"/>
            <a:ext cx="28575" cy="119568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3" name="Text 25"/>
          <p:cNvSpPr/>
          <p:nvPr/>
        </p:nvSpPr>
        <p:spPr>
          <a:xfrm>
            <a:off x="4772025" y="3217366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全球化合规与隐私雷区</a:t>
            </a:r>
            <a:endParaRPr lang="en-US" sz="987" dirty="0"/>
          </a:p>
        </p:txBody>
      </p:sp>
      <p:sp>
        <p:nvSpPr>
          <p:cNvPr id="34" name="Text 26"/>
          <p:cNvSpPr/>
          <p:nvPr/>
        </p:nvSpPr>
        <p:spPr>
          <a:xfrm>
            <a:off x="4772025" y="3488829"/>
            <a:ext cx="38290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自动化建联涉及 PII 处理，面临 GDPR/CCPA 风险。</a:t>
            </a:r>
            <a:endParaRPr lang="en-US" sz="780" dirty="0"/>
          </a:p>
        </p:txBody>
      </p:sp>
      <p:sp>
        <p:nvSpPr>
          <p:cNvPr id="35" name="Shape 27"/>
          <p:cNvSpPr/>
          <p:nvPr/>
        </p:nvSpPr>
        <p:spPr>
          <a:xfrm>
            <a:off x="4772025" y="3748683"/>
            <a:ext cx="3829050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829175" y="3805833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缓解策略：</a:t>
            </a:r>
            <a:endParaRPr lang="en-US" sz="634" dirty="0"/>
          </a:p>
        </p:txBody>
      </p:sp>
      <p:sp>
        <p:nvSpPr>
          <p:cNvPr id="37" name="Text 29"/>
          <p:cNvSpPr/>
          <p:nvPr/>
        </p:nvSpPr>
        <p:spPr>
          <a:xfrm>
            <a:off x="4829175" y="3979069"/>
            <a:ext cx="27729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One-click Delete 机制，严格遵守 CAN-SPAM Act，法务提前介入。</a:t>
            </a:r>
            <a:endParaRPr lang="en-US" sz="674" dirty="0"/>
          </a:p>
        </p:txBody>
      </p:sp>
      <p:sp>
        <p:nvSpPr>
          <p:cNvPr id="38" name="Shape 30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1" name="Text 32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核心战役一：智能建联与数据引擎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打通数据清洗、自动化建联与 AI 价值分析闭环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428625" y="1535906"/>
            <a:ext cx="8286750" cy="21431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核心逻辑闭环</a:t>
            </a:r>
            <a:endParaRPr lang="en-US" sz="987" dirty="0"/>
          </a:p>
        </p:txBody>
      </p:sp>
      <p:sp>
        <p:nvSpPr>
          <p:cNvPr id="7" name="Shape 3"/>
          <p:cNvSpPr/>
          <p:nvPr/>
        </p:nvSpPr>
        <p:spPr>
          <a:xfrm>
            <a:off x="428625" y="1864519"/>
            <a:ext cx="2500313" cy="142875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459697" y="2007394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284" y="2135981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27944" y="2521744"/>
            <a:ext cx="8921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数据清洗 (存量)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1173947" y="2771775"/>
            <a:ext cx="10001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解决历史资产复用问题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 建立统一标准</a:t>
            </a:r>
            <a:endParaRPr lang="en-US" sz="72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97" y="2493169"/>
            <a:ext cx="107156" cy="1714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312328" y="1864519"/>
            <a:ext cx="2505084" cy="1428750"/>
          </a:xfrm>
          <a:prstGeom prst="rect">
            <a:avLst/>
          </a:prstGeom>
          <a:solidFill>
            <a:srgbClr val="F3E8FF"/>
          </a:solidFill>
          <a:ln w="9144">
            <a:solidFill>
              <a:srgbClr val="4C00BD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350516" y="2007394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103" y="2135981"/>
            <a:ext cx="171450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54469" y="2521744"/>
            <a:ext cx="102074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自动化建联 (增量)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4114772" y="2771775"/>
            <a:ext cx="90011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大规模触达新达人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 信息自动回填数据库</a:t>
            </a:r>
            <a:endParaRPr lang="en-US" sz="72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488" y="2493169"/>
            <a:ext cx="107156" cy="171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05519" y="1864519"/>
            <a:ext cx="2509828" cy="142875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7250906" y="2007394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494" y="2135981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33037" y="2521744"/>
            <a:ext cx="10643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价值分析 (AI 赋能)</a:t>
            </a:r>
            <a:endParaRPr lang="en-US" sz="885" dirty="0"/>
          </a:p>
        </p:txBody>
      </p:sp>
      <p:sp>
        <p:nvSpPr>
          <p:cNvPr id="23" name="Text 14"/>
          <p:cNvSpPr/>
          <p:nvPr/>
        </p:nvSpPr>
        <p:spPr>
          <a:xfrm>
            <a:off x="6979248" y="2771775"/>
            <a:ext cx="97194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输出“匹配度评分”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 输出“价格合理性评估”</a:t>
            </a:r>
            <a:endParaRPr lang="en-US" sz="727" dirty="0"/>
          </a:p>
        </p:txBody>
      </p:sp>
      <p:sp>
        <p:nvSpPr>
          <p:cNvPr id="24" name="Text 15"/>
          <p:cNvSpPr/>
          <p:nvPr/>
        </p:nvSpPr>
        <p:spPr>
          <a:xfrm>
            <a:off x="428625" y="3484727"/>
            <a:ext cx="8286750" cy="21431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成功标准 (Success Metrics)</a:t>
            </a:r>
            <a:endParaRPr lang="en-US" sz="987" dirty="0"/>
          </a:p>
        </p:txBody>
      </p:sp>
      <p:sp>
        <p:nvSpPr>
          <p:cNvPr id="25" name="Shape 16"/>
          <p:cNvSpPr/>
          <p:nvPr/>
        </p:nvSpPr>
        <p:spPr>
          <a:xfrm>
            <a:off x="428625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7"/>
          <p:cNvSpPr/>
          <p:nvPr/>
        </p:nvSpPr>
        <p:spPr>
          <a:xfrm>
            <a:off x="428625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7" name="Text 18"/>
          <p:cNvSpPr/>
          <p:nvPr/>
        </p:nvSpPr>
        <p:spPr>
          <a:xfrm>
            <a:off x="571500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10,000+</a:t>
            </a:r>
            <a:endParaRPr lang="en-US" sz="1602" dirty="0"/>
          </a:p>
        </p:txBody>
      </p:sp>
      <p:sp>
        <p:nvSpPr>
          <p:cNvPr id="28" name="Text 19"/>
          <p:cNvSpPr/>
          <p:nvPr/>
        </p:nvSpPr>
        <p:spPr>
          <a:xfrm>
            <a:off x="571500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有效数据入库</a:t>
            </a:r>
            <a:endParaRPr lang="en-US" sz="683" dirty="0"/>
          </a:p>
        </p:txBody>
      </p:sp>
      <p:sp>
        <p:nvSpPr>
          <p:cNvPr id="29" name="Shape 20"/>
          <p:cNvSpPr/>
          <p:nvPr/>
        </p:nvSpPr>
        <p:spPr>
          <a:xfrm>
            <a:off x="1828800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1"/>
          <p:cNvSpPr/>
          <p:nvPr/>
        </p:nvSpPr>
        <p:spPr>
          <a:xfrm>
            <a:off x="1828800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1" name="Text 22"/>
          <p:cNvSpPr/>
          <p:nvPr/>
        </p:nvSpPr>
        <p:spPr>
          <a:xfrm>
            <a:off x="1971675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≥ 30%</a:t>
            </a:r>
            <a:endParaRPr lang="en-US" sz="1602" dirty="0"/>
          </a:p>
        </p:txBody>
      </p:sp>
      <p:sp>
        <p:nvSpPr>
          <p:cNvPr id="32" name="Text 23"/>
          <p:cNvSpPr/>
          <p:nvPr/>
        </p:nvSpPr>
        <p:spPr>
          <a:xfrm>
            <a:off x="1971675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直连达人占比 (私域)</a:t>
            </a:r>
            <a:endParaRPr lang="en-US" sz="683" dirty="0"/>
          </a:p>
        </p:txBody>
      </p:sp>
      <p:sp>
        <p:nvSpPr>
          <p:cNvPr id="33" name="Shape 24"/>
          <p:cNvSpPr/>
          <p:nvPr/>
        </p:nvSpPr>
        <p:spPr>
          <a:xfrm>
            <a:off x="3228975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5"/>
          <p:cNvSpPr/>
          <p:nvPr/>
        </p:nvSpPr>
        <p:spPr>
          <a:xfrm>
            <a:off x="3228975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5" name="Text 26"/>
          <p:cNvSpPr/>
          <p:nvPr/>
        </p:nvSpPr>
        <p:spPr>
          <a:xfrm>
            <a:off x="3371850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500+</a:t>
            </a:r>
            <a:endParaRPr lang="en-US" sz="1602" dirty="0"/>
          </a:p>
        </p:txBody>
      </p:sp>
      <p:sp>
        <p:nvSpPr>
          <p:cNvPr id="36" name="Text 27"/>
          <p:cNvSpPr/>
          <p:nvPr/>
        </p:nvSpPr>
        <p:spPr>
          <a:xfrm>
            <a:off x="3371850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单人日均触达能力</a:t>
            </a:r>
            <a:endParaRPr lang="en-US" sz="683" dirty="0"/>
          </a:p>
        </p:txBody>
      </p:sp>
      <p:sp>
        <p:nvSpPr>
          <p:cNvPr id="37" name="Shape 28"/>
          <p:cNvSpPr/>
          <p:nvPr/>
        </p:nvSpPr>
        <p:spPr>
          <a:xfrm>
            <a:off x="4629150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9"/>
          <p:cNvSpPr/>
          <p:nvPr/>
        </p:nvSpPr>
        <p:spPr>
          <a:xfrm>
            <a:off x="4629150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9" name="Text 30"/>
          <p:cNvSpPr/>
          <p:nvPr/>
        </p:nvSpPr>
        <p:spPr>
          <a:xfrm>
            <a:off x="4772025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40%</a:t>
            </a:r>
            <a:endParaRPr lang="en-US" sz="1602" dirty="0"/>
          </a:p>
        </p:txBody>
      </p:sp>
      <p:sp>
        <p:nvSpPr>
          <p:cNvPr id="40" name="Text 31"/>
          <p:cNvSpPr/>
          <p:nvPr/>
        </p:nvSpPr>
        <p:spPr>
          <a:xfrm>
            <a:off x="4772025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邮件打开率</a:t>
            </a:r>
            <a:endParaRPr lang="en-US" sz="683" dirty="0"/>
          </a:p>
        </p:txBody>
      </p:sp>
      <p:sp>
        <p:nvSpPr>
          <p:cNvPr id="41" name="Shape 32"/>
          <p:cNvSpPr/>
          <p:nvPr/>
        </p:nvSpPr>
        <p:spPr>
          <a:xfrm>
            <a:off x="6029325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6029325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3" name="Text 34"/>
          <p:cNvSpPr/>
          <p:nvPr/>
        </p:nvSpPr>
        <p:spPr>
          <a:xfrm>
            <a:off x="6172200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15%</a:t>
            </a:r>
            <a:endParaRPr lang="en-US" sz="1602" dirty="0"/>
          </a:p>
        </p:txBody>
      </p:sp>
      <p:sp>
        <p:nvSpPr>
          <p:cNvPr id="44" name="Text 35"/>
          <p:cNvSpPr/>
          <p:nvPr/>
        </p:nvSpPr>
        <p:spPr>
          <a:xfrm>
            <a:off x="6172200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邮件回复率</a:t>
            </a:r>
            <a:endParaRPr lang="en-US" sz="683" dirty="0"/>
          </a:p>
        </p:txBody>
      </p:sp>
      <p:sp>
        <p:nvSpPr>
          <p:cNvPr id="45" name="Shape 36"/>
          <p:cNvSpPr/>
          <p:nvPr/>
        </p:nvSpPr>
        <p:spPr>
          <a:xfrm>
            <a:off x="7429500" y="3813339"/>
            <a:ext cx="1285875" cy="658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7"/>
          <p:cNvSpPr/>
          <p:nvPr/>
        </p:nvSpPr>
        <p:spPr>
          <a:xfrm>
            <a:off x="7429500" y="3813339"/>
            <a:ext cx="28575" cy="65864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7" name="Text 38"/>
          <p:cNvSpPr/>
          <p:nvPr/>
        </p:nvSpPr>
        <p:spPr>
          <a:xfrm>
            <a:off x="7572375" y="3927639"/>
            <a:ext cx="10001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4C00BD"/>
                </a:solidFill>
              </a:rPr>
              <a:t>80%</a:t>
            </a:r>
            <a:endParaRPr lang="en-US" sz="1602" dirty="0"/>
          </a:p>
        </p:txBody>
      </p:sp>
      <p:sp>
        <p:nvSpPr>
          <p:cNvPr id="48" name="Text 39"/>
          <p:cNvSpPr/>
          <p:nvPr/>
        </p:nvSpPr>
        <p:spPr>
          <a:xfrm>
            <a:off x="7572375" y="4207669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B7280"/>
                </a:solidFill>
              </a:rPr>
              <a:t>三级游戏标签覆盖率</a:t>
            </a:r>
            <a:endParaRPr lang="en-US" sz="683" dirty="0"/>
          </a:p>
        </p:txBody>
      </p:sp>
      <p:sp>
        <p:nvSpPr>
          <p:cNvPr id="49" name="Shape 40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52" name="Text 42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核心战役二：直连业务能力构建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赋能业务团队从“依赖中介”向“自主直连”转型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421606"/>
            <a:ext cx="8286750" cy="66436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421606"/>
            <a:ext cx="57150" cy="664369"/>
          </a:xfrm>
          <a:prstGeom prst="rect">
            <a:avLst/>
          </a:prstGeom>
          <a:solidFill>
            <a:srgbClr val="FFB41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71625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1525" y="1535906"/>
            <a:ext cx="571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核心问题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542925" y="1778794"/>
            <a:ext cx="8058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业务团队缺乏直连海量长尾达人的工具与标准流程，产品需赋能业务，使其具备独立执行直连业务的完整能力。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428625" y="2200275"/>
            <a:ext cx="8286750" cy="25717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成功标准</a:t>
            </a:r>
            <a:endParaRPr lang="en-US" sz="1193" dirty="0"/>
          </a:p>
        </p:txBody>
      </p:sp>
      <p:sp>
        <p:nvSpPr>
          <p:cNvPr id="12" name="Shape 7"/>
          <p:cNvSpPr/>
          <p:nvPr/>
        </p:nvSpPr>
        <p:spPr>
          <a:xfrm>
            <a:off x="428625" y="2514600"/>
            <a:ext cx="2686050" cy="110370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14350" y="2600325"/>
            <a:ext cx="285750" cy="285750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2686050"/>
            <a:ext cx="8572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350" y="2943225"/>
            <a:ext cx="25146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SOP 固化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514350" y="3193256"/>
            <a:ext cx="251460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建立标准化直连作业流程，明确从筛选、触达、谈判到签约的每一步规范。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3228975" y="2514600"/>
            <a:ext cx="2686050" cy="110370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314700" y="2600325"/>
            <a:ext cx="285750" cy="285750"/>
          </a:xfrm>
          <a:prstGeom prst="rect">
            <a:avLst/>
          </a:prstGeom>
          <a:solidFill>
            <a:srgbClr val="FFB41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138" y="2686050"/>
            <a:ext cx="142875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14700" y="2943225"/>
            <a:ext cx="25146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能力内化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3314700" y="3193256"/>
            <a:ext cx="251460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媒介专员能熟练使用平台工具独立完成直连业务，不再依赖外部 Agency。</a:t>
            </a:r>
            <a:endParaRPr lang="en-US" sz="727" dirty="0"/>
          </a:p>
        </p:txBody>
      </p:sp>
      <p:sp>
        <p:nvSpPr>
          <p:cNvPr id="22" name="Shape 15"/>
          <p:cNvSpPr/>
          <p:nvPr/>
        </p:nvSpPr>
        <p:spPr>
          <a:xfrm>
            <a:off x="6029325" y="2514600"/>
            <a:ext cx="2686050" cy="110370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115050" y="2600325"/>
            <a:ext cx="285750" cy="285750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2686050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15050" y="2943225"/>
            <a:ext cx="25146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全链路跑通</a:t>
            </a:r>
            <a:endParaRPr lang="en-US" sz="885" dirty="0"/>
          </a:p>
        </p:txBody>
      </p:sp>
      <p:sp>
        <p:nvSpPr>
          <p:cNvPr id="26" name="Text 18"/>
          <p:cNvSpPr/>
          <p:nvPr/>
        </p:nvSpPr>
        <p:spPr>
          <a:xfrm>
            <a:off x="6115050" y="3193256"/>
            <a:ext cx="251460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支撑业务团队在系统内完成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50+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 真实 Campaign，验证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效率提升。</a:t>
            </a:r>
            <a:endParaRPr lang="en-US" sz="727" dirty="0"/>
          </a:p>
        </p:txBody>
      </p:sp>
      <p:sp>
        <p:nvSpPr>
          <p:cNvPr id="27" name="Text 19"/>
          <p:cNvSpPr/>
          <p:nvPr/>
        </p:nvSpPr>
        <p:spPr>
          <a:xfrm>
            <a:off x="428625" y="3832622"/>
            <a:ext cx="8286750" cy="25717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需要的支持</a:t>
            </a:r>
            <a:endParaRPr lang="en-US" sz="1193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232672"/>
            <a:ext cx="160734" cy="2000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5084" y="4204097"/>
            <a:ext cx="21061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运营协同</a:t>
            </a:r>
            <a:endParaRPr lang="en-US" sz="784" dirty="0"/>
          </a:p>
        </p:txBody>
      </p:sp>
      <p:sp>
        <p:nvSpPr>
          <p:cNvPr id="30" name="Text 21"/>
          <p:cNvSpPr/>
          <p:nvPr/>
        </p:nvSpPr>
        <p:spPr>
          <a:xfrm>
            <a:off x="675084" y="4375547"/>
            <a:ext cx="21061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资深骨干(SME)与PM制定SOP，培训一线媒介。</a:t>
            </a:r>
            <a:endParaRPr lang="en-US" sz="727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8975" y="4232672"/>
            <a:ext cx="128588" cy="2000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443288" y="4204097"/>
            <a:ext cx="23002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渠道资源</a:t>
            </a:r>
            <a:endParaRPr lang="en-US" sz="784" dirty="0"/>
          </a:p>
        </p:txBody>
      </p:sp>
      <p:sp>
        <p:nvSpPr>
          <p:cNvPr id="33" name="Text 23"/>
          <p:cNvSpPr/>
          <p:nvPr/>
        </p:nvSpPr>
        <p:spPr>
          <a:xfrm>
            <a:off x="3443288" y="4375547"/>
            <a:ext cx="23002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销售引导种子客户强制使用新平台，提供演练场景。</a:t>
            </a:r>
            <a:endParaRPr lang="en-US" sz="727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4232672"/>
            <a:ext cx="128588" cy="200025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243638" y="4204097"/>
            <a:ext cx="2296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IT / 法务</a:t>
            </a:r>
            <a:endParaRPr lang="en-US" sz="784" dirty="0"/>
          </a:p>
        </p:txBody>
      </p:sp>
      <p:sp>
        <p:nvSpPr>
          <p:cNvPr id="36" name="Text 25"/>
          <p:cNvSpPr/>
          <p:nvPr/>
        </p:nvSpPr>
        <p:spPr>
          <a:xfrm>
            <a:off x="6243638" y="4375547"/>
            <a:ext cx="229691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配置高信誉邮件域名（预热2-4周），审核电子合同。</a:t>
            </a:r>
            <a:endParaRPr lang="en-US" sz="727" dirty="0"/>
          </a:p>
        </p:txBody>
      </p:sp>
      <p:sp>
        <p:nvSpPr>
          <p:cNvPr id="37" name="Shape 26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0" name="Text 28"/>
          <p:cNvSpPr/>
          <p:nvPr/>
        </p:nvSpPr>
        <p:spPr>
          <a:xfrm>
            <a:off x="3000375" y="4844355"/>
            <a:ext cx="1105802" cy="9822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Source: Meet Intelligence</a:t>
            </a:r>
            <a:endParaRPr lang="en-US" sz="56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2026年 H1 OKR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H1目标：发布 MVP，验证 PMF，构建直连达人壁垒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535906"/>
            <a:ext cx="8286750" cy="571500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7" name="Shape 3"/>
          <p:cNvSpPr/>
          <p:nvPr/>
        </p:nvSpPr>
        <p:spPr>
          <a:xfrm>
            <a:off x="600075" y="1735931"/>
            <a:ext cx="688925" cy="200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600075" y="1735931"/>
            <a:ext cx="68892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C00BD"/>
                </a:solidFill>
              </a:rPr>
              <a:t>OBJECTIVE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1403300" y="1707356"/>
            <a:ext cx="572513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成功发布 MeetInfluence MVP，通过自动化建联构建直连达人壁垒，验证 PMF。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428625" y="2336006"/>
            <a:ext cx="2647931" cy="20502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2336006"/>
            <a:ext cx="2647931" cy="2857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12" name="Shape 8"/>
          <p:cNvSpPr/>
          <p:nvPr/>
        </p:nvSpPr>
        <p:spPr>
          <a:xfrm>
            <a:off x="600075" y="2507456"/>
            <a:ext cx="285750" cy="285750"/>
          </a:xfrm>
          <a:prstGeom prst="ellipse">
            <a:avLst/>
          </a:prstGeom>
          <a:solidFill>
            <a:srgbClr val="FFB419"/>
          </a:solidFill>
          <a:ln/>
        </p:spPr>
      </p:sp>
      <p:sp>
        <p:nvSpPr>
          <p:cNvPr id="13" name="Text 9"/>
          <p:cNvSpPr/>
          <p:nvPr/>
        </p:nvSpPr>
        <p:spPr>
          <a:xfrm>
            <a:off x="634566" y="2564606"/>
            <a:ext cx="216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KR1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971550" y="2553891"/>
            <a:ext cx="64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数据与直连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600075" y="2907506"/>
            <a:ext cx="2305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10,000+</a:t>
            </a:r>
            <a:endParaRPr lang="en-US" sz="1397" dirty="0"/>
          </a:p>
        </p:txBody>
      </p:sp>
      <p:sp>
        <p:nvSpPr>
          <p:cNvPr id="16" name="Text 12"/>
          <p:cNvSpPr/>
          <p:nvPr/>
        </p:nvSpPr>
        <p:spPr>
          <a:xfrm>
            <a:off x="600075" y="3107531"/>
            <a:ext cx="2305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游戏垂类达人入库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600075" y="3371850"/>
            <a:ext cx="2305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≥ 30%</a:t>
            </a:r>
            <a:endParaRPr lang="en-US" sz="1397" dirty="0"/>
          </a:p>
        </p:txBody>
      </p:sp>
      <p:sp>
        <p:nvSpPr>
          <p:cNvPr id="18" name="Text 14"/>
          <p:cNvSpPr/>
          <p:nvPr/>
        </p:nvSpPr>
        <p:spPr>
          <a:xfrm>
            <a:off x="600075" y="3571875"/>
            <a:ext cx="2305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平台直连达人占比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600075" y="3836194"/>
            <a:ext cx="2305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&gt; 95%</a:t>
            </a:r>
            <a:endParaRPr lang="en-US" sz="1397" dirty="0"/>
          </a:p>
        </p:txBody>
      </p:sp>
      <p:sp>
        <p:nvSpPr>
          <p:cNvPr id="20" name="Text 16"/>
          <p:cNvSpPr/>
          <p:nvPr/>
        </p:nvSpPr>
        <p:spPr>
          <a:xfrm>
            <a:off x="600075" y="4036219"/>
            <a:ext cx="2305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核心字段完整度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3248006" y="2336006"/>
            <a:ext cx="2647959" cy="2021681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18"/>
          <p:cNvSpPr/>
          <p:nvPr/>
        </p:nvSpPr>
        <p:spPr>
          <a:xfrm>
            <a:off x="3248006" y="2336006"/>
            <a:ext cx="2647959" cy="28575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23" name="Shape 19"/>
          <p:cNvSpPr/>
          <p:nvPr/>
        </p:nvSpPr>
        <p:spPr>
          <a:xfrm>
            <a:off x="3419456" y="2507456"/>
            <a:ext cx="285750" cy="285750"/>
          </a:xfrm>
          <a:prstGeom prst="ellipse">
            <a:avLst/>
          </a:prstGeom>
          <a:solidFill>
            <a:srgbClr val="4C00BD"/>
          </a:solidFill>
          <a:ln/>
        </p:spPr>
      </p:sp>
      <p:sp>
        <p:nvSpPr>
          <p:cNvPr id="24" name="Text 20"/>
          <p:cNvSpPr/>
          <p:nvPr/>
        </p:nvSpPr>
        <p:spPr>
          <a:xfrm>
            <a:off x="3453947" y="2564606"/>
            <a:ext cx="216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KR2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3790931" y="2553891"/>
            <a:ext cx="64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自动化提效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3419456" y="2907506"/>
            <a:ext cx="23050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150%</a:t>
            </a:r>
            <a:endParaRPr lang="en-US" sz="1397" dirty="0"/>
          </a:p>
        </p:txBody>
      </p:sp>
      <p:sp>
        <p:nvSpPr>
          <p:cNvPr id="27" name="Text 23"/>
          <p:cNvSpPr/>
          <p:nvPr/>
        </p:nvSpPr>
        <p:spPr>
          <a:xfrm>
            <a:off x="3419456" y="3107531"/>
            <a:ext cx="230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承载量 (20→50人/案)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3419456" y="3371850"/>
            <a:ext cx="23050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15%+</a:t>
            </a:r>
            <a:endParaRPr lang="en-US" sz="1397" dirty="0"/>
          </a:p>
        </p:txBody>
      </p:sp>
      <p:sp>
        <p:nvSpPr>
          <p:cNvPr id="29" name="Text 25"/>
          <p:cNvSpPr/>
          <p:nvPr/>
        </p:nvSpPr>
        <p:spPr>
          <a:xfrm>
            <a:off x="3419456" y="3571875"/>
            <a:ext cx="230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邮件回复率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3419456" y="3836194"/>
            <a:ext cx="23050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系统上线</a:t>
            </a:r>
            <a:endParaRPr lang="en-US" sz="784" dirty="0"/>
          </a:p>
        </p:txBody>
      </p:sp>
      <p:sp>
        <p:nvSpPr>
          <p:cNvPr id="31" name="Text 27"/>
          <p:cNvSpPr/>
          <p:nvPr/>
        </p:nvSpPr>
        <p:spPr>
          <a:xfrm>
            <a:off x="3419456" y="4007644"/>
            <a:ext cx="230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自动化建联系统</a:t>
            </a:r>
            <a:endParaRPr lang="en-US" sz="727" dirty="0"/>
          </a:p>
        </p:txBody>
      </p:sp>
      <p:sp>
        <p:nvSpPr>
          <p:cNvPr id="32" name="Shape 28"/>
          <p:cNvSpPr/>
          <p:nvPr/>
        </p:nvSpPr>
        <p:spPr>
          <a:xfrm>
            <a:off x="6067416" y="2336006"/>
            <a:ext cx="2647931" cy="2021681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29"/>
          <p:cNvSpPr/>
          <p:nvPr/>
        </p:nvSpPr>
        <p:spPr>
          <a:xfrm>
            <a:off x="6067416" y="2336006"/>
            <a:ext cx="2647931" cy="28575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4" name="Shape 30"/>
          <p:cNvSpPr/>
          <p:nvPr/>
        </p:nvSpPr>
        <p:spPr>
          <a:xfrm>
            <a:off x="6238866" y="2507456"/>
            <a:ext cx="285750" cy="285750"/>
          </a:xfrm>
          <a:prstGeom prst="ellipse">
            <a:avLst/>
          </a:prstGeom>
          <a:solidFill>
            <a:srgbClr val="FFB419"/>
          </a:solidFill>
          <a:ln/>
        </p:spPr>
      </p:sp>
      <p:sp>
        <p:nvSpPr>
          <p:cNvPr id="35" name="Text 31"/>
          <p:cNvSpPr/>
          <p:nvPr/>
        </p:nvSpPr>
        <p:spPr>
          <a:xfrm>
            <a:off x="6273357" y="2564606"/>
            <a:ext cx="216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KR3</a:t>
            </a:r>
            <a:endParaRPr lang="en-US" sz="784" dirty="0"/>
          </a:p>
        </p:txBody>
      </p:sp>
      <p:sp>
        <p:nvSpPr>
          <p:cNvPr id="36" name="Text 32"/>
          <p:cNvSpPr/>
          <p:nvPr/>
        </p:nvSpPr>
        <p:spPr>
          <a:xfrm>
            <a:off x="6610341" y="2553891"/>
            <a:ext cx="5143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商业闭环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6238866" y="2907506"/>
            <a:ext cx="2305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4C00BD"/>
                </a:solidFill>
              </a:rPr>
              <a:t>100 个</a:t>
            </a:r>
            <a:endParaRPr lang="en-US" sz="1397" dirty="0"/>
          </a:p>
        </p:txBody>
      </p:sp>
      <p:sp>
        <p:nvSpPr>
          <p:cNvPr id="38" name="Text 34"/>
          <p:cNvSpPr/>
          <p:nvPr/>
        </p:nvSpPr>
        <p:spPr>
          <a:xfrm>
            <a:off x="6238866" y="3107531"/>
            <a:ext cx="2305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全链路承接 Campaign</a:t>
            </a:r>
            <a:endParaRPr lang="en-US" sz="727" dirty="0"/>
          </a:p>
        </p:txBody>
      </p:sp>
      <p:sp>
        <p:nvSpPr>
          <p:cNvPr id="39" name="Text 35"/>
          <p:cNvSpPr/>
          <p:nvPr/>
        </p:nvSpPr>
        <p:spPr>
          <a:xfrm>
            <a:off x="6238866" y="3371850"/>
            <a:ext cx="230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1 份报告</a:t>
            </a:r>
            <a:endParaRPr lang="en-US" sz="784" dirty="0"/>
          </a:p>
        </p:txBody>
      </p:sp>
      <p:sp>
        <p:nvSpPr>
          <p:cNvPr id="40" name="Text 36"/>
          <p:cNvSpPr/>
          <p:nvPr/>
        </p:nvSpPr>
        <p:spPr>
          <a:xfrm>
            <a:off x="6238866" y="3543300"/>
            <a:ext cx="23050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直连 vs 传统代理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成本效益分析</a:t>
            </a:r>
            <a:endParaRPr lang="en-US" sz="727" dirty="0"/>
          </a:p>
        </p:txBody>
      </p:sp>
      <p:sp>
        <p:nvSpPr>
          <p:cNvPr id="41" name="Shape 37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4" name="Text 39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资源与系统需求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P0 级人力缺口与关键系统依赖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535906"/>
            <a:ext cx="285750" cy="285750"/>
          </a:xfrm>
          <a:prstGeom prst="ellipse">
            <a:avLst/>
          </a:prstGeom>
          <a:solidFill>
            <a:srgbClr val="4C00B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1621631"/>
            <a:ext cx="142875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1550194"/>
            <a:ext cx="17002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C00BD"/>
                </a:solidFill>
              </a:rPr>
              <a:t>P0 级人力缺口 (HC: 2)</a:t>
            </a:r>
            <a:endParaRPr lang="en-US" sz="1193" dirty="0"/>
          </a:p>
        </p:txBody>
      </p:sp>
      <p:sp>
        <p:nvSpPr>
          <p:cNvPr id="9" name="Shape 4"/>
          <p:cNvSpPr/>
          <p:nvPr/>
        </p:nvSpPr>
        <p:spPr>
          <a:xfrm>
            <a:off x="428625" y="1993106"/>
            <a:ext cx="3971925" cy="684014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069063" y="2107406"/>
            <a:ext cx="217187" cy="1714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6"/>
          <p:cNvSpPr/>
          <p:nvPr/>
        </p:nvSpPr>
        <p:spPr>
          <a:xfrm>
            <a:off x="4069063" y="2107406"/>
            <a:ext cx="21718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P0</a:t>
            </a:r>
            <a:endParaRPr lang="en-US" sz="584" dirty="0"/>
          </a:p>
        </p:txBody>
      </p:sp>
      <p:sp>
        <p:nvSpPr>
          <p:cNvPr id="12" name="Shape 7"/>
          <p:cNvSpPr/>
          <p:nvPr/>
        </p:nvSpPr>
        <p:spPr>
          <a:xfrm>
            <a:off x="571500" y="2135981"/>
            <a:ext cx="342900" cy="34290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53" y="2235994"/>
            <a:ext cx="17859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8700" y="2135981"/>
            <a:ext cx="2753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资深后端开发 (Python/AI)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028700" y="2357438"/>
            <a:ext cx="27535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负责 Agent 核心逻辑开发、LLM 接口对接及自动化流程编排。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428625" y="2834283"/>
            <a:ext cx="3971925" cy="684014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069063" y="2948583"/>
            <a:ext cx="217187" cy="1714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2"/>
          <p:cNvSpPr/>
          <p:nvPr/>
        </p:nvSpPr>
        <p:spPr>
          <a:xfrm>
            <a:off x="4069063" y="2948583"/>
            <a:ext cx="21718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P0</a:t>
            </a:r>
            <a:endParaRPr lang="en-US" sz="584" dirty="0"/>
          </a:p>
        </p:txBody>
      </p:sp>
      <p:sp>
        <p:nvSpPr>
          <p:cNvPr id="19" name="Shape 13"/>
          <p:cNvSpPr/>
          <p:nvPr/>
        </p:nvSpPr>
        <p:spPr>
          <a:xfrm>
            <a:off x="571500" y="2977158"/>
            <a:ext cx="342900" cy="34290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42" y="3077170"/>
            <a:ext cx="125016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28700" y="2977158"/>
            <a:ext cx="2400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2E"/>
                </a:solidFill>
              </a:rPr>
              <a:t>数据工程师 (ETL/Crawler)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1028700" y="3198614"/>
            <a:ext cx="240030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负责多渠道数据爬取、清洗策略维护及数据仓库建设。</a:t>
            </a:r>
            <a:endParaRPr lang="en-US" sz="727" dirty="0"/>
          </a:p>
        </p:txBody>
      </p:sp>
      <p:sp>
        <p:nvSpPr>
          <p:cNvPr id="23" name="Shape 16"/>
          <p:cNvSpPr/>
          <p:nvPr/>
        </p:nvSpPr>
        <p:spPr>
          <a:xfrm>
            <a:off x="4743450" y="1535906"/>
            <a:ext cx="285750" cy="285750"/>
          </a:xfrm>
          <a:prstGeom prst="ellipse">
            <a:avLst/>
          </a:prstGeom>
          <a:solidFill>
            <a:srgbClr val="FFB419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621631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14925" y="1550194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D97706"/>
                </a:solidFill>
              </a:rPr>
              <a:t>关键系统依赖</a:t>
            </a:r>
            <a:endParaRPr lang="en-US" sz="1193" dirty="0"/>
          </a:p>
        </p:txBody>
      </p:sp>
      <p:sp>
        <p:nvSpPr>
          <p:cNvPr id="26" name="Shape 18"/>
          <p:cNvSpPr/>
          <p:nvPr/>
        </p:nvSpPr>
        <p:spPr>
          <a:xfrm>
            <a:off x="4743450" y="1993106"/>
            <a:ext cx="3971925" cy="5679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Shape 19"/>
          <p:cNvSpPr/>
          <p:nvPr/>
        </p:nvSpPr>
        <p:spPr>
          <a:xfrm>
            <a:off x="4743450" y="1993106"/>
            <a:ext cx="28575" cy="56792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28" name="Text 20"/>
          <p:cNvSpPr/>
          <p:nvPr/>
        </p:nvSpPr>
        <p:spPr>
          <a:xfrm>
            <a:off x="4857750" y="2107406"/>
            <a:ext cx="12502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数据采购预算 (种子数据)</a:t>
            </a:r>
            <a:endParaRPr lang="en-US" sz="784" dirty="0"/>
          </a:p>
        </p:txBody>
      </p:sp>
      <p:sp>
        <p:nvSpPr>
          <p:cNvPr id="29" name="Text 21"/>
          <p:cNvSpPr/>
          <p:nvPr/>
        </p:nvSpPr>
        <p:spPr>
          <a:xfrm>
            <a:off x="8176217" y="2107406"/>
            <a:ext cx="4248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</a:rPr>
              <a:t>¥50,000</a:t>
            </a:r>
            <a:endParaRPr lang="en-US" sz="784" dirty="0"/>
          </a:p>
        </p:txBody>
      </p:sp>
      <p:sp>
        <p:nvSpPr>
          <p:cNvPr id="30" name="Text 22"/>
          <p:cNvSpPr/>
          <p:nvPr/>
        </p:nvSpPr>
        <p:spPr>
          <a:xfrm>
            <a:off x="4857750" y="2307431"/>
            <a:ext cx="37433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用于采购第三方达人库基础数据，快速完成冷启动，避免从零爬取的合规风险与时间成本。</a:t>
            </a:r>
            <a:endParaRPr lang="en-US" sz="674" dirty="0"/>
          </a:p>
        </p:txBody>
      </p:sp>
      <p:sp>
        <p:nvSpPr>
          <p:cNvPr id="31" name="Shape 23"/>
          <p:cNvSpPr/>
          <p:nvPr/>
        </p:nvSpPr>
        <p:spPr>
          <a:xfrm>
            <a:off x="4743450" y="2675334"/>
            <a:ext cx="3971925" cy="5679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24"/>
          <p:cNvSpPr/>
          <p:nvPr/>
        </p:nvSpPr>
        <p:spPr>
          <a:xfrm>
            <a:off x="4743450" y="2675334"/>
            <a:ext cx="28575" cy="56792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3" name="Text 25"/>
          <p:cNvSpPr/>
          <p:nvPr/>
        </p:nvSpPr>
        <p:spPr>
          <a:xfrm>
            <a:off x="4857750" y="2789634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邮件发送基础设施</a:t>
            </a:r>
            <a:endParaRPr lang="en-US" sz="784" dirty="0"/>
          </a:p>
        </p:txBody>
      </p:sp>
      <p:sp>
        <p:nvSpPr>
          <p:cNvPr id="34" name="Text 26"/>
          <p:cNvSpPr/>
          <p:nvPr/>
        </p:nvSpPr>
        <p:spPr>
          <a:xfrm>
            <a:off x="4857750" y="2989659"/>
            <a:ext cx="37433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申请独立高信誉域名 (需预热 2-4 周)；采购 SendGrid/Mailgun 企业版服务以确保送达率。</a:t>
            </a:r>
            <a:endParaRPr lang="en-US" sz="674" dirty="0"/>
          </a:p>
        </p:txBody>
      </p:sp>
      <p:sp>
        <p:nvSpPr>
          <p:cNvPr id="35" name="Shape 27"/>
          <p:cNvSpPr/>
          <p:nvPr/>
        </p:nvSpPr>
        <p:spPr>
          <a:xfrm>
            <a:off x="4743450" y="3357563"/>
            <a:ext cx="3971925" cy="5679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28"/>
          <p:cNvSpPr/>
          <p:nvPr/>
        </p:nvSpPr>
        <p:spPr>
          <a:xfrm>
            <a:off x="4743450" y="3357563"/>
            <a:ext cx="28575" cy="567928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37" name="Text 29"/>
          <p:cNvSpPr/>
          <p:nvPr/>
        </p:nvSpPr>
        <p:spPr>
          <a:xfrm>
            <a:off x="4857750" y="3471863"/>
            <a:ext cx="953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2E"/>
                </a:solidFill>
              </a:rPr>
              <a:t>AI 算力与存储成本</a:t>
            </a:r>
            <a:endParaRPr lang="en-US" sz="784" dirty="0"/>
          </a:p>
        </p:txBody>
      </p:sp>
      <p:sp>
        <p:nvSpPr>
          <p:cNvPr id="38" name="Text 30"/>
          <p:cNvSpPr/>
          <p:nvPr/>
        </p:nvSpPr>
        <p:spPr>
          <a:xfrm>
            <a:off x="8020645" y="3471863"/>
            <a:ext cx="5804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</a:rPr>
              <a:t>¥2,000 / 月</a:t>
            </a:r>
            <a:endParaRPr lang="en-US" sz="784" dirty="0"/>
          </a:p>
        </p:txBody>
      </p:sp>
      <p:sp>
        <p:nvSpPr>
          <p:cNvPr id="39" name="Text 31"/>
          <p:cNvSpPr/>
          <p:nvPr/>
        </p:nvSpPr>
        <p:spPr>
          <a:xfrm>
            <a:off x="4857750" y="3671888"/>
            <a:ext cx="37433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向量数据库 (Vector DB) 存储达人画像；LLM Token 消耗 (用于价值分析与邮件生成)。</a:t>
            </a:r>
            <a:endParaRPr lang="en-US" sz="674" dirty="0"/>
          </a:p>
        </p:txBody>
      </p:sp>
      <p:sp>
        <p:nvSpPr>
          <p:cNvPr id="40" name="Shape 32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3" name="Text 34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128588"/>
            <a:ext cx="85725" cy="100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6215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2E"/>
                </a:solidFill>
              </a:rPr>
              <a:t>对上级的需求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42925" y="1092994"/>
            <a:ext cx="81724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C00BD"/>
                </a:solidFill>
              </a:rPr>
              <a:t>保障战略落地的关键决策与资源授权</a:t>
            </a:r>
            <a:endParaRPr lang="en-US" sz="987" dirty="0"/>
          </a:p>
        </p:txBody>
      </p:sp>
      <p:sp>
        <p:nvSpPr>
          <p:cNvPr id="6" name="Shape 2"/>
          <p:cNvSpPr/>
          <p:nvPr/>
        </p:nvSpPr>
        <p:spPr>
          <a:xfrm>
            <a:off x="428625" y="1478756"/>
            <a:ext cx="2609841" cy="1984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478756"/>
            <a:ext cx="2609841" cy="57150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8" name="Shape 4"/>
          <p:cNvSpPr/>
          <p:nvPr/>
        </p:nvSpPr>
        <p:spPr>
          <a:xfrm>
            <a:off x="1504931" y="1650206"/>
            <a:ext cx="457200" cy="4572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75" y="1771650"/>
            <a:ext cx="214313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9206" y="2221706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战略定调</a:t>
            </a:r>
            <a:endParaRPr lang="en-US" sz="1090" dirty="0"/>
          </a:p>
        </p:txBody>
      </p:sp>
      <p:sp>
        <p:nvSpPr>
          <p:cNvPr id="11" name="Text 6"/>
          <p:cNvSpPr/>
          <p:nvPr/>
        </p:nvSpPr>
        <p:spPr>
          <a:xfrm>
            <a:off x="600075" y="2543175"/>
            <a:ext cx="22669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确认</a:t>
            </a:r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C00BD"/>
                </a:solidFill>
              </a:rPr>
              <a:t>“直连平台化”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为 2026 年集团级战略方向，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而非单一部门尝试。</a:t>
            </a:r>
            <a:endParaRPr lang="en-US" sz="780" dirty="0"/>
          </a:p>
        </p:txBody>
      </p:sp>
      <p:sp>
        <p:nvSpPr>
          <p:cNvPr id="12" name="Shape 7"/>
          <p:cNvSpPr/>
          <p:nvPr/>
        </p:nvSpPr>
        <p:spPr>
          <a:xfrm>
            <a:off x="600075" y="3062883"/>
            <a:ext cx="2266941" cy="2286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760" y="3132534"/>
            <a:ext cx="85725" cy="857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08060" y="3118247"/>
            <a:ext cx="9652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避免资源摇摆与方向模糊</a:t>
            </a:r>
            <a:endParaRPr lang="en-US" sz="621" dirty="0"/>
          </a:p>
        </p:txBody>
      </p:sp>
      <p:sp>
        <p:nvSpPr>
          <p:cNvPr id="15" name="Shape 9"/>
          <p:cNvSpPr/>
          <p:nvPr/>
        </p:nvSpPr>
        <p:spPr>
          <a:xfrm>
            <a:off x="3267066" y="1478756"/>
            <a:ext cx="2609841" cy="1984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3267066" y="1478756"/>
            <a:ext cx="2609841" cy="57150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17" name="Shape 11"/>
          <p:cNvSpPr/>
          <p:nvPr/>
        </p:nvSpPr>
        <p:spPr>
          <a:xfrm>
            <a:off x="4343372" y="1650206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16" y="1771650"/>
            <a:ext cx="214313" cy="2143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57647" y="2221706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资源授权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3438516" y="2543175"/>
            <a:ext cx="22669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批准 </a:t>
            </a:r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97706"/>
                </a:solidFill>
              </a:rPr>
              <a:t>20W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 数据采购预算与 </a:t>
            </a:r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97706"/>
                </a:solidFill>
              </a:rPr>
              <a:t>3名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 研发 HC (P0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级)。</a:t>
            </a:r>
            <a:endParaRPr lang="en-US" sz="780" dirty="0"/>
          </a:p>
        </p:txBody>
      </p:sp>
      <p:sp>
        <p:nvSpPr>
          <p:cNvPr id="21" name="Shape 14"/>
          <p:cNvSpPr/>
          <p:nvPr/>
        </p:nvSpPr>
        <p:spPr>
          <a:xfrm>
            <a:off x="3438516" y="3062883"/>
            <a:ext cx="2266941" cy="2286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692" y="3132534"/>
            <a:ext cx="85725" cy="857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47992" y="3118247"/>
            <a:ext cx="7622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确保 MVP 按期上线</a:t>
            </a:r>
            <a:endParaRPr lang="en-US" sz="621" dirty="0"/>
          </a:p>
        </p:txBody>
      </p:sp>
      <p:sp>
        <p:nvSpPr>
          <p:cNvPr id="24" name="Shape 16"/>
          <p:cNvSpPr/>
          <p:nvPr/>
        </p:nvSpPr>
        <p:spPr>
          <a:xfrm>
            <a:off x="6105506" y="1478756"/>
            <a:ext cx="2609869" cy="19841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7"/>
          <p:cNvSpPr/>
          <p:nvPr/>
        </p:nvSpPr>
        <p:spPr>
          <a:xfrm>
            <a:off x="6105506" y="1478756"/>
            <a:ext cx="2609869" cy="57150"/>
          </a:xfrm>
          <a:prstGeom prst="rect">
            <a:avLst/>
          </a:prstGeom>
          <a:solidFill>
            <a:srgbClr val="4C00BD"/>
          </a:solidFill>
          <a:ln/>
        </p:spPr>
      </p:sp>
      <p:sp>
        <p:nvSpPr>
          <p:cNvPr id="26" name="Shape 18"/>
          <p:cNvSpPr/>
          <p:nvPr/>
        </p:nvSpPr>
        <p:spPr>
          <a:xfrm>
            <a:off x="7181841" y="1650206"/>
            <a:ext cx="457200" cy="4572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6495" y="1771650"/>
            <a:ext cx="267891" cy="2143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96088" y="2221706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机制保障</a:t>
            </a:r>
            <a:endParaRPr lang="en-US" sz="1090" dirty="0"/>
          </a:p>
        </p:txBody>
      </p:sp>
      <p:sp>
        <p:nvSpPr>
          <p:cNvPr id="29" name="Text 20"/>
          <p:cNvSpPr/>
          <p:nvPr/>
        </p:nvSpPr>
        <p:spPr>
          <a:xfrm>
            <a:off x="6276956" y="2543175"/>
            <a:ext cx="226696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授权推行“强制使用”政策，业务团队需引导 </a:t>
            </a:r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C00BD"/>
                </a:solidFill>
              </a:rPr>
              <a:t>20%</a:t>
            </a:r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</a:rPr>
              <a:t> 种子客户进入新模式。</a:t>
            </a:r>
            <a:endParaRPr lang="en-US" sz="780" dirty="0"/>
          </a:p>
        </p:txBody>
      </p:sp>
      <p:sp>
        <p:nvSpPr>
          <p:cNvPr id="30" name="Shape 21"/>
          <p:cNvSpPr/>
          <p:nvPr/>
        </p:nvSpPr>
        <p:spPr>
          <a:xfrm>
            <a:off x="6276956" y="3005733"/>
            <a:ext cx="2266969" cy="2286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366" y="3075384"/>
            <a:ext cx="85725" cy="857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70666" y="3061097"/>
            <a:ext cx="7938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解决冷启动流量问题</a:t>
            </a:r>
            <a:endParaRPr lang="en-US" sz="621" dirty="0"/>
          </a:p>
        </p:txBody>
      </p:sp>
      <p:sp>
        <p:nvSpPr>
          <p:cNvPr id="33" name="Shape 23"/>
          <p:cNvSpPr/>
          <p:nvPr/>
        </p:nvSpPr>
        <p:spPr>
          <a:xfrm>
            <a:off x="428625" y="3757613"/>
            <a:ext cx="8286750" cy="714375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34" name="Shape 24"/>
          <p:cNvSpPr/>
          <p:nvPr/>
        </p:nvSpPr>
        <p:spPr>
          <a:xfrm>
            <a:off x="428625" y="3757613"/>
            <a:ext cx="28575" cy="714375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007644"/>
            <a:ext cx="160734" cy="21431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75109" y="3929063"/>
            <a:ext cx="458994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C00BD"/>
                </a:solidFill>
              </a:rPr>
              <a:t>承诺 (Commitment)</a:t>
            </a:r>
            <a:endParaRPr lang="en-US" sz="885" dirty="0"/>
          </a:p>
        </p:txBody>
      </p:sp>
      <p:sp>
        <p:nvSpPr>
          <p:cNvPr id="37" name="Text 26"/>
          <p:cNvSpPr/>
          <p:nvPr/>
        </p:nvSpPr>
        <p:spPr>
          <a:xfrm>
            <a:off x="875109" y="4150519"/>
            <a:ext cx="45899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获得上述支持后，我们承诺在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Q2 结束前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完成 MVP 上线，并跑通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50+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真实案例，实现人效提升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150%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。</a:t>
            </a:r>
            <a:endParaRPr lang="en-US" sz="727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7453" y="3900488"/>
            <a:ext cx="375047" cy="42862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0" y="4643438"/>
            <a:ext cx="3000375" cy="500063"/>
          </a:xfrm>
          <a:prstGeom prst="rect">
            <a:avLst/>
          </a:prstGeom>
          <a:solidFill>
            <a:srgbClr val="4C00BD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4779169"/>
            <a:ext cx="1252807" cy="22860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solidFill>
            <a:srgbClr val="FFB419"/>
          </a:solidFill>
          <a:ln/>
        </p:spPr>
      </p:sp>
      <p:sp>
        <p:nvSpPr>
          <p:cNvPr id="42" name="Text 29"/>
          <p:cNvSpPr/>
          <p:nvPr/>
        </p:nvSpPr>
        <p:spPr>
          <a:xfrm>
            <a:off x="3000375" y="4643438"/>
            <a:ext cx="614362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7953"/>
            <a:ext cx="437197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2862" b="1" dirty="0">
                <a:solidFill>
                  <a:srgbClr val="4C00BD"/>
                </a:solidFill>
              </a:rPr>
              <a:t>战略总结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610916"/>
            <a:ext cx="43719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6B7280"/>
                </a:solidFill>
              </a:rPr>
              <a:t>2026：从“服务商”向“数据技术平台”的跃迁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153841"/>
            <a:ext cx="342900" cy="34290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3" y="2253853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7275" y="2153841"/>
            <a:ext cx="37104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模式重构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1057275" y="2418159"/>
            <a:ext cx="37104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摆脱人力堆砌的传统代理模式，转向</a:t>
            </a:r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“自动化+直连”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的轻资产高人效模式。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571500" y="2832497"/>
            <a:ext cx="342900" cy="34290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42" y="2932509"/>
            <a:ext cx="12501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7275" y="2832497"/>
            <a:ext cx="38862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核心壁垒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1057275" y="3096816"/>
            <a:ext cx="3886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在 </a:t>
            </a:r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2026年6月30日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 前沉淀 10,000+ 直连资产，构建基于真实交易数据的定价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权与智能匹配能力。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71500" y="3696891"/>
            <a:ext cx="342900" cy="342900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3796903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7275" y="3696891"/>
            <a:ext cx="31301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长期价值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1057275" y="3961209"/>
            <a:ext cx="31301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验证 AI Agent 在营销场景的落地，开启 </a:t>
            </a:r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4C00BD"/>
                </a:solidFill>
              </a:rPr>
              <a:t>SaaS 化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新增长曲线。</a:t>
            </a:r>
            <a:endParaRPr lang="en-US" sz="83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000875" y="428625"/>
            <a:ext cx="1714500" cy="83570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86613" y="3871913"/>
            <a:ext cx="13858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>
                    <a:alpha val="20000"/>
                  </a:srgbClr>
                </a:solidFill>
              </a:rPr>
              <a:t>2026</a:t>
            </a:r>
            <a:endParaRPr lang="en-US" sz="2016" dirty="0"/>
          </a:p>
        </p:txBody>
      </p:sp>
      <p:sp>
        <p:nvSpPr>
          <p:cNvPr id="19" name="Text 12"/>
          <p:cNvSpPr/>
          <p:nvPr/>
        </p:nvSpPr>
        <p:spPr>
          <a:xfrm>
            <a:off x="7186613" y="4357688"/>
            <a:ext cx="1385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987" b="1" spc="2" kern="0" dirty="0">
                <a:solidFill>
                  <a:srgbClr val="FFFFFF"/>
                </a:solidFill>
              </a:rPr>
              <a:t>MEET INFLUENCE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2026-01-30T02:51:18Z</dcterms:created>
  <dcterms:modified xsi:type="dcterms:W3CDTF">2026-01-30T02:51:18Z</dcterms:modified>
</cp:coreProperties>
</file>